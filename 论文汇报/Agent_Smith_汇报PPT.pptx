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大家好，今天汇报的论文是 Agent Smith，发表于 ICML 2024。我把题目译为“史密斯特工：一张图像引发百万个多模态智能体的指数级越狱传播”。这是一篇攻击与风险分析论文。它研究攻击如何借助多 Agent 的交互和记忆扩散，并没有提供完整的工程防护系统。接下来我会依次介绍研究问题、传播理论、系统机制和实验，最后讨论它对多 Agent 防护的启发。</a:t>
            </a:r>
          </a:p>
          <a:p/>
          <a:p>
            <a:r>
              <a:t>来源：论文标题、摘要；arXiv v2，2024-06-03</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传统越狱主要问怎样让一个模型生成有害内容。这篇论文进一步问：如果 Agent 之间会交换信息并保存记忆，一个 Agent 接触攻击载体后，风险会不会继续扩散？作者把这种现象称为 Infectious Jailbreak，也就是传染性越狱。这里有两个过程：攻击图像进入更多 Agent 的记忆，以及这些 Agent 产生有害行为。两者有关联，但不能等同。作者要验证的是，在受控环境中，初始攻击以后不再持续干预，正常交互是否足以推动传播。</a:t>
            </a:r>
          </a:p>
          <a:p/>
          <a:p>
            <a:r>
              <a:t>来源：摘要；§1；§3.1</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先区分携带和表现症状。c_t 是第 t 轮开始时携带攻击载体的比例。p_t 是携带且表现有害行为的比例。alpha 是携带者表现有害行为的概率，因此 p_t 等于 alpha 乘 c_t。beta 的前提是提问方携带、回答方不携带，衡量回答方到下一轮是否成为携带者。gamma 衡量当前携带者到下一轮是否不再携带。这里的恢复是载体状态变化，不能仅凭一次正常回答判断恢复。理论中把这些概率当作平均常数，实际交互中它们可能随轮次变化。</a:t>
            </a:r>
          </a:p>
          <a:p/>
          <a:p>
            <a:r>
              <a:t>来源：§3.1，式(1)–(4)</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这个更新式可以读成两部分：上一轮没有恢复的携带者，加上本轮新增的携带者。新增项中 c_t 代表提问方携带，1减c_t 代表回答方不携带，beta 代表成功传播。二分之一来自每轮只有 N/2 对且传播方向为提问方到回答方。作者在大群体平均近似后，再转成连续时间微分方程分析长期趋势。当 beta 小于等于两倍 gamma 时，这个模型中的携带比例最终趋零。要强调，这是指定随机配对与近似条件下的结论，不是所有多 Agent 系统通用的安全阈值。</a:t>
            </a:r>
          </a:p>
          <a:p/>
          <a:p>
            <a:r>
              <a:t>来源：§3.1，式(5)–(8)，Remark II</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这张原图把抽象传播过程落实成可运行系统。先看左下，每个 Agent 包含多模态模型、检索模块、文本历史和图像相册。左上表示每轮随机分成提问方和回答方，一一配对。右侧的提问方先只根据文本生成选图计划，这就是 No input image 的含义，并不意味着相册没有图。检索模块再根据计划选图，模型结合图像生成问题并发送。回答方生成回答后，双方保存问答，只有回答方额外保存收到的图像。这个记忆写入规则为攻击图像的后续传播提供了通道。</a:t>
            </a:r>
          </a:p>
          <a:p/>
          <a:p>
            <a:r>
              <a:t>来源：§3.2，Figure 2，Algorithm 1；原图含有害文本示例</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有了传播通道，还要构造能利用这个通道的图像。3.3 节先提出三个理想条件：无论检索计划如何都容易选中图像，在不同历史下诱导有害问题，并在回答阶段诱导有害回答。4.1 节用检索、提问、回答三个损失联合优化一张图，尽量逼近这些条件。这里优化的是图像，不能讲成重新训练全部 Agent。作者从正常图像开始，测试受限像素修改和只修改边框两种方式。实际图像不能完美满足所有上下文，因此既要测传播，也要测有害行为是否成功。</a:t>
            </a:r>
          </a:p>
          <a:p/>
          <a:p>
            <a:r>
              <a:t>来源：§3.3，式(9)–(11)；§4.1；附录D.2</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实验不是只跑一个百万规模模拟。作者先用小系统中的正常聊天记录构造攻击图像，再到新的 Agent 角色和相册配置中测试传播。默认模型是 LLaVA-1.5 7B，检索用 CLIP，常用系统规模是 256，文本历史容量为3，相册容量为10。构造图像时使用64个正常 Agent 产生的512条样本。目标从 AdvBench 中选取，并排除原本就会直接产生违规输出的目标。主要指标在五个随机有害目标上统计，后面的百万规模实验则有单独限制。实验路线是先看可行性与速度，再改变对话、记忆、模型，检查现象的适用范围。</a:t>
            </a:r>
          </a:p>
          <a:p/>
          <a:p>
            <a:r>
              <a:t>来源：§4.1；M=512 来自无攻击的 N=64 系统</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在讲曲线前先解释两个指标。累计感染比例表示从开始到现在至少输出过一次目标有害问题或回答的 Agent 比例，它不会因为 Agent 恢复而下降。当前感染比例只统计本轮输出目标内容的 Agent，因此可以波动。比如100个 Agent 中累计有80个曾输出目标，但本轮只有50个输出，两个指标分别是80%和50%，这只是教学例子。作者要求输出与目标字符串精确匹配，所以它衡量的是目标行为的成功，不是泛化的所有有害行为。图表一般比较固定轮次的比例，比如 p16，以及第一次达到90%要多少轮。前者越高、后者越小，通常表示攻击越有效。</a:t>
            </a:r>
          </a:p>
          <a:p/>
          <a:p>
            <a:r>
              <a:t>来源：§4.1，Infection ratios 与 Evaluation metrics</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先看横轴，它是聊天轮数，纵轴是累计感染比例。比较曲线时先看相同轮数下谁更高，再看谁先接近顶部。作者比较视觉提示注入、文本提示注入，以及每轮攻击一个 Agent 的顺序策略。在这套配置里，前两种基线没有成功感染 Agent，顺序攻击增长慢，本文攻击明显更快。不能从这个图推导出所有文本注入都无效，它只比较所实现的基线。O(N)与O(log N)是交互轮数和指定攻击策略下的比较，不是总计算量从线性降到对数，因为每轮仍有许多 Agent 对话。这个实验支持的是协作本身可以放大初始攻击。</a:t>
            </a:r>
          </a:p>
          <a:p/>
          <a:p>
            <a:r>
              <a:t>来源：§4.2，Figure 3 左；原始曲线</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标题强调一张图像和百万 Agent，但一张图不等于只有一个初始携带者。作者在小规模环境研究单点启动；大规模实验为节省计算固定初始携带比例为1/1024。在 N 等于2的20次方，也就是1048576个 Agent 的实验中，起始有1024个 Agent 的相册预置同一张攻击图像。附录 E.1 报告，第22轮当前感染比例为96.23%。这里可以讲“同一攻击载体能在百万规模模拟中广泛传播”，但不能讲“这次百万实验只注入一个 Agent”。大规模曲线只报告一个随机有害目标，也应与默认五目标统计区分。</a:t>
            </a:r>
          </a:p>
          <a:p/>
          <a:p>
            <a:r>
              <a:t>来源：§4.2；附录E.1，Figure 19(c)</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这一页回答攻击是否只依赖简单、重复的对话。作者调整系统提示，鼓励 Agent 展开角色扮演，形成更丰富的历史。表中固定256个 Agent、边框宽度6，只改变对话多样性。先看第16轮当前感染比例，低多样性为90.62%，高多样性为81.48%，说明更丰富的上下文增加了攻击难度。再看达到90%的轮数，从16轮变成平均19轮，扩散被拖慢，但没有被阻止。不能说所有复杂对话都会在24轮感染，这只是这些配置下的结果。相应累计比例更高，因为它记住了此前任何一次成功。</a:t>
            </a:r>
          </a:p>
          <a:p/>
          <a:p>
            <a:r>
              <a:t>来源：§4.3；Table 1，Border h=6，N=256，|H|=3，|B|=10</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这一页把理论参数和实验连起来。作者在较小的扰动预算下发现有些攻击失败。读图时，先看上排感染曲线是否明显上升，再看下面的传播概率和症状概率。论文发现，失败案例中 beta 仍然较高，说明图像已在系统中传播，但提问与回答两类 alpha 下降，Agent 没有稳定输出精确目标。因此不能用“图像传遍了”代替“所有 Agent 都被成功越狱”。同时作者观察到部分输出语义接近目标但不完全相同，说明精确匹配也会漏记这类效果。对防护研究，这提示要分别测载体传播和有害行为。</a:t>
            </a:r>
          </a:p>
          <a:p/>
          <a:p>
            <a:r>
              <a:t>来源：§4.3，Figure 4；附录E.4；图为原始失败案例之一</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这一页只改变相册容量，固定256个 Agent、边框宽度8。相册为2时，第16轮当前感染比例是56.09%，达到90%需要平均23.2轮。相册为6时相应为90.16%和16.2轮，说明更小相册更容易淘汰攻击图像，能明显拖慢传播。不过，相册从6增加到10，第16轮比例反而略降。作者解释，正常图片增多也可能使攻击图像不容易被检索。因而容量同时影响恢复和检索，不能简单推出越小一定安全或越大一定危险。更不能把这组延缓结果讲成已经消除传播。</a:t>
            </a:r>
          </a:p>
          <a:p/>
          <a:p>
            <a:r>
              <a:t>来源：§4.4；Table 2，Border h=8，N=256，高文本多样性</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这一页看攻击是否依赖固定上下文。第一部分，作者把保存的文本历史从3增加到9、15，在所测配置中没有显著改变传播趋势。第二部分，右侧图横轴是构造攻击图像用的正常聊天样本数量 M，纵轴是第16轮的感染比例。一般样本越多，攻击越有效，但有限样本也能造成明显感染。这里 M 不是 Agent 数量，也不是传播轮数，它影响优化图像时接触多少不同上下文。两项实验说明，这个攻击在所测历史长度和样本规模下具有一定稳定性，但不等于对任意业务上下文都有效。</a:t>
            </a:r>
          </a:p>
          <a:p/>
          <a:p>
            <a:r>
              <a:t>来源：§4.4；Table 2；Figure 5 左，Border h=8</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横轴仍是轮数，纵轴是感染比例。这里测试翻转、缩放和JPEG压缩会不会破坏攻击。重要限定是：作者在生成攻击图像时已经随机加入这些变换，并采用更大的扰动预算，所以这是一种经过适配的攻击评估。结果中仍观察到传播，并且当前比例存在波动。可以得出“这些变换在该设置下不足以阻止适配攻击”，不能说所有预处理都无效，也不能说任意已有攻击图像都能无损抵抗压缩。对于防御实验，这也提示我们要考虑知道防御后重新优化的攻击者。</a:t>
            </a:r>
          </a:p>
          <a:p/>
          <a:p>
            <a:r>
              <a:t>来源：§4.4，Common corruptions；Figure 6 左，Border h=16</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这组图有三个面板。左边把模型换成 InstructBLIP 7B，仍然观察到传播；中间和右边来自同一个异构系统，分别统计 InstructBLIP 和 LLaVA Agent，两种模型各占一半。作者观察到两类 Agent 最终都广泛感染。需要特别强调，异构实验中的攻击图像是基于两种模型共同构造的。这不是只在LLaVA上生成图片，再直接迁移到完全未知模型。所以结论是“混合这两类模型并不自动消除风险”，而不是“攻击能迁移到所有未知模型”。</a:t>
            </a:r>
          </a:p>
          <a:p/>
          <a:p>
            <a:r>
              <a:t>来源：§4.5–4.6；Figure 7；异构攻击基于两种模型共同构造</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最后作者把目标从普通有害文本换成一个有害函数调用JSON。曲线说明，攻击也可以让大量 Agent 生成指定格式的字符串，论文报告在24轮前几乎所有 Agent 输出目标。这里要停在证据支持的位置：实验展示的是生成目标JSON，图示函数是占位函数。只有应用继续解析并执行，而且模型有相应工具权限时，才可能造成外部后果。所以这页说明潜在后果更严重，但不能说论文已经真实执行了大规模破坏。对于防护，模型输出检查与执行层授权应当分开评估，这是我的分析。</a:t>
            </a:r>
          </a:p>
          <a:p/>
          <a:p>
            <a:r>
              <a:t>来源：§4.7，Figure 8；图示函数为占位函数</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前面的结果展示了风险可行性，但有几个边界。首先是作者自建的随机两两聊天，并不代表现实中的固定工作流或主管执行者结构。其次，Agent 会按规则保存收到的图像，这是传播依赖的系统机制。第三，大规模实验采用多个初始携带者，而且只给一个目标的曲线。第四，精确匹配测的是特定字符串，可能遗漏语义层面的有害输出。异构与图像处理攻击都经过适配，覆盖范围有限。这些是依据实验设置作出的评价，不是否定实验，而是确定哪些结论有证据、哪些仍需要新的实验。</a:t>
            </a:r>
          </a:p>
          <a:p/>
          <a:p>
            <a:r>
              <a:t>来源：依据§3–4与附录E.1整理；本页为实验边界分析</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论文给出的是模型内的防护阈值，没有构建完整防护系统。我的理解是可以从两个方向提出可检验的问题：降低 beta，关注接收、转发和记忆写入；提高 gamma，关注恶意记忆的识别、淘汰与恢复。但隔离 Agent 会改变网络结构，不能直接当作原模型中的 gamma 增大。这些建议是我的分析，不是作者已经验证的方法。将来做实验还要同时测正常任务效果和成本。否则，把所有交流都阻断当然降低传播，却无法说明防护具有实用价值。</a:t>
            </a:r>
          </a:p>
          <a:p/>
          <a:p>
            <a:r>
              <a:t>来源：作者结论：§3.1 Remark II与§5；具体防护建议为汇报者分析</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最后总结三点。第一，本文提出传染性越狱，把关注点从单个模型的有害输出扩展到交互系统的风险放大。第二，作者在随机配对模型中分析传播和恢复，并用可运行的多模态 Agent 环境验证现象。第三，实验表明这种现象在一些对话、记忆和模型变化下仍存在，但不是对所有实际系统的普遍证明。对我的研究方向，最重要的启发是把载体传播、模型有害行为和最终工具执行分开评估，再考虑防护部署在何处。</a:t>
            </a:r>
          </a:p>
          <a:p/>
          <a:p>
            <a:r>
              <a:t>来源：§1、§3–5；最后的评估建议为汇报者分析</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本次汇报以 arXiv v2 为依据。所有原始实验曲线和图像来自论文，数据摘录注明了配置和表格位置。理论解释和实验结果与我的防护建议分别标识。模板风格参考 SlidesMania 的 Simple Professional，中文内容重新排版。谢谢。</a:t>
            </a:r>
          </a:p>
          <a:p/>
          <a:p>
            <a:r>
              <a:t>来源：论文 arXiv:2402.08567v2；模板：SlidesMania Simple Professional</a:t>
            </a:r>
          </a:p>
          <a:p>
            <a:r>
              <a:t>https://arxiv.org/html/2402.08567v2</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2" name="图片 11"/>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lang="en-US" altLang="zh-CN" sz="2700" b="1">
                <a:solidFill>
                  <a:srgbClr val="171715"/>
                </a:solidFill>
                <a:latin typeface="宋体" panose="02010600030101010101" pitchFamily="2" charset="-122"/>
                <a:ea typeface="宋体" panose="02010600030101010101" pitchFamily="2" charset="-122"/>
                <a:cs typeface="宋体" panose="02010600030101010101" pitchFamily="2" charset="-122"/>
              </a:rPr>
              <a:t>Agent Smith: A Single Image Can Jailbreak One Million</a:t>
            </a:r>
            <a:endParaRPr lang="en-US" altLang="zh-CN"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lang="en-US" altLang="zh-CN" sz="2700" b="1">
                <a:solidFill>
                  <a:srgbClr val="171715"/>
                </a:solidFill>
                <a:latin typeface="宋体" panose="02010600030101010101" pitchFamily="2" charset="-122"/>
                <a:ea typeface="宋体" panose="02010600030101010101" pitchFamily="2" charset="-122"/>
                <a:cs typeface="宋体" panose="02010600030101010101" pitchFamily="2" charset="-122"/>
              </a:rPr>
              <a:t>Multimodal LLM Agents Exponentially Fast</a:t>
            </a:r>
            <a:endParaRPr lang="en-US" altLang="zh-CN"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汇报</a:t>
            </a:r>
            <a:r>
              <a:rPr lang="zh-CN" sz="975" b="0">
                <a:solidFill>
                  <a:srgbClr val="55554E"/>
                </a:solidFill>
                <a:latin typeface="微软雅黑" panose="020B0503020204020204" charset="-122"/>
                <a:ea typeface="微软雅黑" panose="020B0503020204020204" charset="-122"/>
                <a:cs typeface="微软雅黑" panose="020B0503020204020204" charset="-122"/>
              </a:rPr>
              <a:t>人</a:t>
            </a:r>
            <a:r>
              <a:rPr lang="en-US" altLang="zh-CN" sz="975" b="0">
                <a:solidFill>
                  <a:srgbClr val="55554E"/>
                </a:solidFill>
                <a:latin typeface="微软雅黑" panose="020B0503020204020204" charset="-122"/>
                <a:ea typeface="微软雅黑" panose="020B0503020204020204" charset="-122"/>
                <a:cs typeface="微软雅黑" panose="020B0503020204020204" charset="-122"/>
              </a:rPr>
              <a:t> </a:t>
            </a:r>
            <a:r>
              <a:rPr lang="zh-CN" altLang="en-US" sz="975" b="0">
                <a:solidFill>
                  <a:srgbClr val="55554E"/>
                </a:solidFill>
                <a:latin typeface="微软雅黑" panose="020B0503020204020204" charset="-122"/>
                <a:ea typeface="微软雅黑" panose="020B0503020204020204" charset="-122"/>
                <a:cs typeface="微软雅黑" panose="020B0503020204020204" charset="-122"/>
              </a:rPr>
              <a:t>鲁璟</a:t>
            </a:r>
            <a:r>
              <a:rPr lang="zh-CN" altLang="en-US" sz="975" b="0">
                <a:solidFill>
                  <a:srgbClr val="55554E"/>
                </a:solidFill>
                <a:latin typeface="微软雅黑" panose="020B0503020204020204" charset="-122"/>
                <a:ea typeface="微软雅黑" panose="020B0503020204020204" charset="-122"/>
                <a:cs typeface="微软雅黑" panose="020B0503020204020204" charset="-122"/>
              </a:rPr>
              <a:t>毅</a:t>
            </a:r>
            <a:endParaRPr lang="zh-CN" altLang="en-US"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01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论文标题、摘要；arXiv v2，2024-06-03</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38200" y="1762125"/>
            <a:ext cx="10477500" cy="857250"/>
          </a:xfrm>
          <a:prstGeom prst="rect">
            <a:avLst/>
          </a:prstGeom>
          <a:noFill/>
          <a:ln w="0">
            <a:noFill/>
          </a:ln>
        </p:spPr>
        <p:txBody>
          <a:bodyPr lIns="0" tIns="0" rIns="0" bIns="0">
            <a:noAutofit/>
          </a:bodyPr>
          <a:lstStyle/>
          <a:p>
            <a:pPr>
              <a:defRPr sz="48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4800" b="1">
                <a:solidFill>
                  <a:srgbClr val="171715"/>
                </a:solidFill>
                <a:latin typeface="宋体" panose="02010600030101010101" pitchFamily="2" charset="-122"/>
                <a:ea typeface="宋体" panose="02010600030101010101" pitchFamily="2" charset="-122"/>
                <a:cs typeface="宋体" panose="02010600030101010101" pitchFamily="2" charset="-122"/>
              </a:rPr>
              <a:t>史密斯特工</a:t>
            </a:r>
            <a:endParaRPr sz="48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9" name="矩形 8"/>
          <p:cNvSpPr>
            <a:spLocks noGrp="1"/>
          </p:cNvSpPr>
          <p:nvPr/>
        </p:nvSpPr>
        <p:spPr>
          <a:xfrm>
            <a:off x="857250" y="2857500"/>
            <a:ext cx="10477500" cy="1381125"/>
          </a:xfrm>
          <a:prstGeom prst="rect">
            <a:avLst/>
          </a:prstGeom>
          <a:noFill/>
          <a:ln w="0">
            <a:noFill/>
          </a:ln>
        </p:spPr>
        <p:txBody>
          <a:bodyPr lIns="0" tIns="0" rIns="0" bIns="0">
            <a:noAutofit/>
          </a:bodyPr>
          <a:lstStyle/>
          <a:p>
            <a:pPr>
              <a:defRPr sz="3075"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3075" b="1">
                <a:solidFill>
                  <a:srgbClr val="171715"/>
                </a:solidFill>
                <a:latin typeface="宋体" panose="02010600030101010101" pitchFamily="2" charset="-122"/>
                <a:ea typeface="宋体" panose="02010600030101010101" pitchFamily="2" charset="-122"/>
                <a:cs typeface="宋体" panose="02010600030101010101" pitchFamily="2" charset="-122"/>
              </a:rPr>
              <a:t>一张图像引发百万个多模态智能体的</a:t>
            </a:r>
            <a:endParaRPr sz="3075" b="1">
              <a:solidFill>
                <a:srgbClr val="171715"/>
              </a:solidFill>
              <a:latin typeface="宋体" panose="02010600030101010101" pitchFamily="2" charset="-122"/>
              <a:ea typeface="宋体" panose="02010600030101010101" pitchFamily="2" charset="-122"/>
              <a:cs typeface="宋体" panose="02010600030101010101" pitchFamily="2" charset="-122"/>
            </a:endParaRPr>
          </a:p>
          <a:p>
            <a:pPr>
              <a:defRPr sz="3075"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3075" b="1">
                <a:solidFill>
                  <a:srgbClr val="171715"/>
                </a:solidFill>
                <a:latin typeface="宋体" panose="02010600030101010101" pitchFamily="2" charset="-122"/>
                <a:ea typeface="宋体" panose="02010600030101010101" pitchFamily="2" charset="-122"/>
                <a:cs typeface="宋体" panose="02010600030101010101" pitchFamily="2" charset="-122"/>
              </a:rPr>
              <a:t>指数级越狱传播</a:t>
            </a:r>
            <a:endParaRPr sz="3075"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矩形 9"/>
          <p:cNvSpPr>
            <a:spLocks noGrp="1"/>
          </p:cNvSpPr>
          <p:nvPr/>
        </p:nvSpPr>
        <p:spPr>
          <a:xfrm>
            <a:off x="885825" y="4648200"/>
            <a:ext cx="10001250" cy="523875"/>
          </a:xfrm>
          <a:prstGeom prst="rect">
            <a:avLst/>
          </a:prstGeom>
          <a:noFill/>
          <a:ln w="0">
            <a:noFill/>
          </a:ln>
        </p:spPr>
        <p:txBody>
          <a:bodyPr lIns="0" tIns="0" rIns="0" bIns="0">
            <a:noAutofit/>
          </a:bodyPr>
          <a:lstStyle/>
          <a:p>
            <a:pPr>
              <a:defRPr sz="2100" b="0">
                <a:solidFill>
                  <a:srgbClr val="171715"/>
                </a:solidFill>
                <a:latin typeface="微软雅黑" panose="020B0503020204020204" charset="-122"/>
                <a:ea typeface="微软雅黑" panose="020B0503020204020204" charset="-122"/>
                <a:cs typeface="微软雅黑" panose="020B0503020204020204" charset="-122"/>
              </a:defRPr>
            </a:pPr>
            <a:r>
              <a:rPr sz="2100" b="0">
                <a:solidFill>
                  <a:srgbClr val="171715"/>
                </a:solidFill>
                <a:latin typeface="微软雅黑" panose="020B0503020204020204" charset="-122"/>
                <a:ea typeface="微软雅黑" panose="020B0503020204020204" charset="-122"/>
                <a:cs typeface="微软雅黑" panose="020B0503020204020204" charset="-122"/>
              </a:rPr>
              <a:t>机制、实验与防护启发</a:t>
            </a:r>
            <a:endParaRPr sz="210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95350" y="5343525"/>
            <a:ext cx="9525000" cy="333375"/>
          </a:xfrm>
          <a:prstGeom prst="rect">
            <a:avLst/>
          </a:prstGeom>
          <a:noFill/>
          <a:ln w="0">
            <a:noFill/>
          </a:ln>
        </p:spPr>
        <p:txBody>
          <a:bodyPr lIns="0" tIns="0" rIns="0" bIns="0">
            <a:noAutofit/>
          </a:bodyPr>
          <a:lstStyle/>
          <a:p>
            <a:pPr>
              <a:defRPr sz="1575" b="0">
                <a:solidFill>
                  <a:srgbClr val="55554E"/>
                </a:solidFill>
                <a:latin typeface="微软雅黑" panose="020B0503020204020204" charset="-122"/>
                <a:ea typeface="微软雅黑" panose="020B0503020204020204" charset="-122"/>
                <a:cs typeface="微软雅黑" panose="020B0503020204020204" charset="-122"/>
              </a:defRPr>
            </a:pPr>
            <a:r>
              <a:rPr sz="1575" b="0">
                <a:solidFill>
                  <a:srgbClr val="55554E"/>
                </a:solidFill>
                <a:latin typeface="微软雅黑" panose="020B0503020204020204" charset="-122"/>
                <a:ea typeface="微软雅黑" panose="020B0503020204020204" charset="-122"/>
                <a:cs typeface="微软雅黑" panose="020B0503020204020204" charset="-122"/>
              </a:rPr>
              <a:t>Xiangming Gu 等　　ICML 2024</a:t>
            </a:r>
            <a:endParaRPr sz="1575" b="0">
              <a:solidFill>
                <a:srgbClr val="55554E"/>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3" name="图片 12"/>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研究问题与核心概念</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研究问题</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02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摘要；§1；§3.1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28675" y="1552575"/>
            <a:ext cx="10477500" cy="542925"/>
          </a:xfrm>
          <a:prstGeom prst="rect">
            <a:avLst/>
          </a:prstGeom>
          <a:noFill/>
          <a:ln w="0">
            <a:noFill/>
          </a:ln>
        </p:spPr>
        <p:txBody>
          <a:bodyPr lIns="0" tIns="0" rIns="0" bIns="0">
            <a:noAutofit/>
          </a:bodyPr>
          <a:lstStyle/>
          <a:p>
            <a:pPr>
              <a:defRPr sz="2550" b="1">
                <a:solidFill>
                  <a:srgbClr val="171715"/>
                </a:solidFill>
                <a:latin typeface="微软雅黑" panose="020B0503020204020204" charset="-122"/>
                <a:ea typeface="微软雅黑" panose="020B0503020204020204" charset="-122"/>
                <a:cs typeface="微软雅黑" panose="020B0503020204020204" charset="-122"/>
              </a:defRPr>
            </a:pPr>
            <a:r>
              <a:rPr sz="2550" b="1">
                <a:solidFill>
                  <a:srgbClr val="171715"/>
                </a:solidFill>
                <a:latin typeface="微软雅黑" panose="020B0503020204020204" charset="-122"/>
                <a:ea typeface="微软雅黑" panose="020B0503020204020204" charset="-122"/>
                <a:cs typeface="微软雅黑" panose="020B0503020204020204" charset="-122"/>
              </a:rPr>
              <a:t>Infectious Jailbreak · 传染性越狱</a:t>
            </a:r>
            <a:endParaRPr sz="2550"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28675" y="2476500"/>
            <a:ext cx="10477500" cy="809625"/>
          </a:xfrm>
          <a:prstGeom prst="rect">
            <a:avLst/>
          </a:prstGeom>
          <a:noFill/>
          <a:ln w="0">
            <a:noFill/>
          </a:ln>
        </p:spPr>
        <p:txBody>
          <a:bodyPr lIns="0" tIns="0" rIns="0" bIns="0">
            <a:noAutofit/>
          </a:bodyPr>
          <a:lstStyle/>
          <a:p>
            <a:pPr>
              <a:defRPr sz="2100" b="0">
                <a:solidFill>
                  <a:srgbClr val="171715"/>
                </a:solidFill>
                <a:latin typeface="微软雅黑" panose="020B0503020204020204" charset="-122"/>
                <a:ea typeface="微软雅黑" panose="020B0503020204020204" charset="-122"/>
                <a:cs typeface="微软雅黑" panose="020B0503020204020204" charset="-122"/>
              </a:defRPr>
            </a:pPr>
            <a:r>
              <a:rPr sz="2100" b="0">
                <a:solidFill>
                  <a:srgbClr val="171715"/>
                </a:solidFill>
                <a:latin typeface="微软雅黑" panose="020B0503020204020204" charset="-122"/>
                <a:ea typeface="微软雅黑" panose="020B0503020204020204" charset="-122"/>
                <a:cs typeface="微软雅黑" panose="020B0503020204020204" charset="-122"/>
              </a:rPr>
              <a:t>单点攻击能否借助正常交互扩展为系统性风险</a:t>
            </a:r>
            <a:endParaRPr sz="210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28675" y="3400425"/>
            <a:ext cx="10477500" cy="809625"/>
          </a:xfrm>
          <a:prstGeom prst="rect">
            <a:avLst/>
          </a:prstGeom>
          <a:noFill/>
          <a:ln w="0">
            <a:noFill/>
          </a:ln>
        </p:spPr>
        <p:txBody>
          <a:bodyPr lIns="0" tIns="0" rIns="0" bIns="0">
            <a:noAutofit/>
          </a:bodyPr>
          <a:lstStyle/>
          <a:p>
            <a:pPr>
              <a:defRPr sz="2100" b="0">
                <a:solidFill>
                  <a:srgbClr val="171715"/>
                </a:solidFill>
                <a:latin typeface="微软雅黑" panose="020B0503020204020204" charset="-122"/>
                <a:ea typeface="微软雅黑" panose="020B0503020204020204" charset="-122"/>
                <a:cs typeface="微软雅黑" panose="020B0503020204020204" charset="-122"/>
              </a:defRPr>
            </a:pPr>
            <a:r>
              <a:rPr sz="2100" b="0">
                <a:solidFill>
                  <a:srgbClr val="171715"/>
                </a:solidFill>
                <a:latin typeface="微软雅黑" panose="020B0503020204020204" charset="-122"/>
                <a:ea typeface="微软雅黑" panose="020B0503020204020204" charset="-122"/>
                <a:cs typeface="微软雅黑" panose="020B0503020204020204" charset="-122"/>
              </a:rPr>
              <a:t>攻击者初始注入后，不再持续干预</a:t>
            </a:r>
            <a:endParaRPr sz="210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28675" y="4324350"/>
            <a:ext cx="10477500" cy="809625"/>
          </a:xfrm>
          <a:prstGeom prst="rect">
            <a:avLst/>
          </a:prstGeom>
          <a:noFill/>
          <a:ln w="0">
            <a:noFill/>
          </a:ln>
        </p:spPr>
        <p:txBody>
          <a:bodyPr lIns="0" tIns="0" rIns="0" bIns="0">
            <a:noAutofit/>
          </a:bodyPr>
          <a:lstStyle/>
          <a:p>
            <a:pPr>
              <a:defRPr sz="2100" b="0">
                <a:solidFill>
                  <a:srgbClr val="171715"/>
                </a:solidFill>
                <a:latin typeface="微软雅黑" panose="020B0503020204020204" charset="-122"/>
                <a:ea typeface="微软雅黑" panose="020B0503020204020204" charset="-122"/>
                <a:cs typeface="微软雅黑" panose="020B0503020204020204" charset="-122"/>
              </a:defRPr>
            </a:pPr>
            <a:r>
              <a:rPr sz="2100" b="0">
                <a:solidFill>
                  <a:srgbClr val="171715"/>
                </a:solidFill>
                <a:latin typeface="微软雅黑" panose="020B0503020204020204" charset="-122"/>
                <a:ea typeface="微软雅黑" panose="020B0503020204020204" charset="-122"/>
                <a:cs typeface="微软雅黑" panose="020B0503020204020204" charset="-122"/>
              </a:rPr>
              <a:t>载体进入记忆与 Agent 表现有害行为是不同事件</a:t>
            </a:r>
            <a:endParaRPr sz="210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19150" y="5334000"/>
            <a:ext cx="10477500" cy="571500"/>
          </a:xfrm>
          <a:prstGeom prst="rect">
            <a:avLst/>
          </a:prstGeom>
          <a:noFill/>
          <a:ln w="0">
            <a:noFill/>
          </a:ln>
        </p:spPr>
        <p:txBody>
          <a:bodyPr lIns="0" tIns="0" rIns="0" bIns="0">
            <a:noAutofit/>
          </a:bodyPr>
          <a:lstStyle/>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本文定位：传播威胁的概念验证与理论分析</a:t>
            </a:r>
            <a:endParaRPr sz="1875"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0" name="图片 9"/>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传播状态与三个概率</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理论模型</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03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§3.1，式(1)–(4)</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graphicFrame>
        <p:nvGraphicFramePr>
          <p:cNvPr id="17" name="表格 16"/>
          <p:cNvGraphicFramePr/>
          <p:nvPr/>
        </p:nvGraphicFramePr>
        <p:xfrm>
          <a:off x="819150" y="1476375"/>
          <a:ext cx="10477500" cy="3333750"/>
        </p:xfrm>
        <a:graphic>
          <a:graphicData uri="http://schemas.openxmlformats.org/drawingml/2006/table">
            <a:tbl>
              <a:tblPr/>
              <a:tblGrid>
                <a:gridCol w="1905000"/>
                <a:gridCol w="8572500"/>
              </a:tblGrid>
              <a:tr h="666750">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符号</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含义</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66675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cₜ / pₜ</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携带比例 / 携带且表现有害的比例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6675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α</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携带者表现有害行为的概率</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6675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β</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携带提问方向非携带回答方传播的概率</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6675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γ</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携带者在下一轮恢复为非携带者的概率</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9" name="矩形 8"/>
          <p:cNvSpPr>
            <a:spLocks noGrp="1"/>
          </p:cNvSpPr>
          <p:nvPr/>
        </p:nvSpPr>
        <p:spPr>
          <a:xfrm>
            <a:off x="857250" y="5153025"/>
            <a:ext cx="9906000" cy="523875"/>
          </a:xfrm>
          <a:prstGeom prst="rect">
            <a:avLst/>
          </a:prstGeom>
          <a:noFill/>
          <a:ln w="0">
            <a:noFill/>
          </a:ln>
        </p:spPr>
        <p:txBody>
          <a:bodyPr lIns="0" tIns="0" rIns="0" bIns="0">
            <a:noAutofit/>
          </a:bodyPr>
          <a:lstStyle/>
          <a:p>
            <a:pPr>
              <a:defRPr sz="2850" b="1">
                <a:solidFill>
                  <a:srgbClr val="33332D"/>
                </a:solidFill>
                <a:latin typeface="Cambria" panose="02040503050406030204"/>
                <a:ea typeface="Cambria" panose="02040503050406030204"/>
                <a:cs typeface="Cambria" panose="02040503050406030204"/>
              </a:defRPr>
            </a:pPr>
            <a:r>
              <a:rPr sz="2850" b="1">
                <a:solidFill>
                  <a:srgbClr val="33332D"/>
                </a:solidFill>
                <a:latin typeface="Cambria" panose="02040503050406030204"/>
                <a:ea typeface="Cambria" panose="02040503050406030204"/>
                <a:cs typeface="Cambria" panose="02040503050406030204"/>
              </a:rPr>
              <a:t>pₜ = αcₜ</a:t>
            </a:r>
            <a:endParaRPr sz="2850" b="1">
              <a:solidFill>
                <a:srgbClr val="33332D"/>
              </a:solidFill>
              <a:latin typeface="Cambria" panose="02040503050406030204"/>
              <a:ea typeface="Cambria" panose="02040503050406030204"/>
              <a:cs typeface="Cambria" panose="02040503050406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3" name="图片 12"/>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传播方程与防护条件</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理论模型</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04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§3.1，式(5)–(8)，Remark II</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38200" y="1628775"/>
            <a:ext cx="10572750" cy="762000"/>
          </a:xfrm>
          <a:prstGeom prst="rect">
            <a:avLst/>
          </a:prstGeom>
          <a:noFill/>
          <a:ln w="0">
            <a:noFill/>
          </a:ln>
        </p:spPr>
        <p:txBody>
          <a:bodyPr lIns="0" tIns="0" rIns="0" bIns="0">
            <a:noAutofit/>
          </a:bodyPr>
          <a:lstStyle/>
          <a:p>
            <a:pPr>
              <a:defRPr sz="3150" b="1">
                <a:solidFill>
                  <a:srgbClr val="171715"/>
                </a:solidFill>
                <a:latin typeface="Cambria" panose="02040503050406030204"/>
                <a:ea typeface="Cambria" panose="02040503050406030204"/>
                <a:cs typeface="Cambria" panose="02040503050406030204"/>
              </a:defRPr>
            </a:pPr>
            <a:r>
              <a:rPr sz="3150" b="1">
                <a:solidFill>
                  <a:srgbClr val="171715"/>
                </a:solidFill>
                <a:latin typeface="Cambria" panose="02040503050406030204"/>
                <a:ea typeface="Cambria" panose="02040503050406030204"/>
                <a:cs typeface="Cambria" panose="02040503050406030204"/>
              </a:rPr>
              <a:t>cₜ₊₁ ≈ (1 − γ)cₜ + ½βcₜ(1 − cₜ)</a:t>
            </a:r>
            <a:endParaRPr sz="3150" b="1">
              <a:solidFill>
                <a:srgbClr val="171715"/>
              </a:solidFill>
              <a:latin typeface="Cambria" panose="02040503050406030204"/>
              <a:ea typeface="Cambria" panose="02040503050406030204"/>
              <a:cs typeface="Cambria" panose="02040503050406030204"/>
            </a:endParaRPr>
          </a:p>
        </p:txBody>
      </p:sp>
      <p:sp>
        <p:nvSpPr>
          <p:cNvPr id="9" name="矩形 8"/>
          <p:cNvSpPr>
            <a:spLocks noGrp="1"/>
          </p:cNvSpPr>
          <p:nvPr/>
        </p:nvSpPr>
        <p:spPr>
          <a:xfrm>
            <a:off x="876300" y="2647950"/>
            <a:ext cx="10001250" cy="571500"/>
          </a:xfrm>
          <a:prstGeom prst="rect">
            <a:avLst/>
          </a:prstGeom>
          <a:noFill/>
          <a:ln w="0">
            <a:noFill/>
          </a:ln>
        </p:spPr>
        <p:txBody>
          <a:bodyPr lIns="0" tIns="0" rIns="0" bIns="0">
            <a:noAutofit/>
          </a:bodyPr>
          <a:lstStyle/>
          <a:p>
            <a:pPr>
              <a:defRPr sz="2100" b="0">
                <a:solidFill>
                  <a:srgbClr val="171715"/>
                </a:solidFill>
                <a:latin typeface="微软雅黑" panose="020B0503020204020204" charset="-122"/>
                <a:ea typeface="微软雅黑" panose="020B0503020204020204" charset="-122"/>
                <a:cs typeface="微软雅黑" panose="020B0503020204020204" charset="-122"/>
              </a:defRPr>
            </a:pPr>
            <a:r>
              <a:rPr sz="2100" b="0">
                <a:solidFill>
                  <a:srgbClr val="171715"/>
                </a:solidFill>
                <a:latin typeface="微软雅黑" panose="020B0503020204020204" charset="-122"/>
                <a:ea typeface="微软雅黑" panose="020B0503020204020204" charset="-122"/>
                <a:cs typeface="微软雅黑" panose="020B0503020204020204" charset="-122"/>
              </a:rPr>
              <a:t>保留下来的携带者  ＋  本轮新增携带者</a:t>
            </a:r>
            <a:endParaRPr sz="210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47725" y="3657600"/>
            <a:ext cx="4476750" cy="762000"/>
          </a:xfrm>
          <a:prstGeom prst="rect">
            <a:avLst/>
          </a:prstGeom>
          <a:noFill/>
          <a:ln w="0">
            <a:noFill/>
          </a:ln>
        </p:spPr>
        <p:txBody>
          <a:bodyPr lIns="0" tIns="0" rIns="0" bIns="0">
            <a:noAutofit/>
          </a:bodyPr>
          <a:lstStyle/>
          <a:p>
            <a:pPr>
              <a:defRPr sz="4200" b="1">
                <a:solidFill>
                  <a:srgbClr val="171715"/>
                </a:solidFill>
                <a:latin typeface="Cambria" panose="02040503050406030204"/>
                <a:ea typeface="Cambria" panose="02040503050406030204"/>
                <a:cs typeface="Cambria" panose="02040503050406030204"/>
              </a:defRPr>
            </a:pPr>
            <a:r>
              <a:rPr sz="4200" b="1">
                <a:solidFill>
                  <a:srgbClr val="171715"/>
                </a:solidFill>
                <a:latin typeface="Cambria" panose="02040503050406030204"/>
                <a:ea typeface="Cambria" panose="02040503050406030204"/>
                <a:cs typeface="Cambria" panose="02040503050406030204"/>
              </a:rPr>
              <a:t>β ≤ 2γ</a:t>
            </a:r>
            <a:endParaRPr sz="4200" b="1">
              <a:solidFill>
                <a:srgbClr val="171715"/>
              </a:solidFill>
              <a:latin typeface="Cambria" panose="02040503050406030204"/>
              <a:ea typeface="Cambria" panose="02040503050406030204"/>
              <a:cs typeface="Cambria" panose="02040503050406030204"/>
            </a:endParaRPr>
          </a:p>
        </p:txBody>
      </p:sp>
      <p:sp>
        <p:nvSpPr>
          <p:cNvPr id="11" name="矩形 10"/>
          <p:cNvSpPr>
            <a:spLocks noGrp="1"/>
          </p:cNvSpPr>
          <p:nvPr/>
        </p:nvSpPr>
        <p:spPr>
          <a:xfrm>
            <a:off x="4667250" y="3819525"/>
            <a:ext cx="6667500" cy="619125"/>
          </a:xfrm>
          <a:prstGeom prst="rect">
            <a:avLst/>
          </a:prstGeom>
          <a:noFill/>
          <a:ln w="0">
            <a:noFill/>
          </a:ln>
        </p:spPr>
        <p:txBody>
          <a:bodyPr lIns="0" tIns="0" rIns="0" bIns="0">
            <a:noAutofit/>
          </a:bodyPr>
          <a:lstStyle/>
          <a:p>
            <a:pPr>
              <a:defRPr sz="2100" b="1">
                <a:solidFill>
                  <a:srgbClr val="171715"/>
                </a:solidFill>
                <a:latin typeface="微软雅黑" panose="020B0503020204020204" charset="-122"/>
                <a:ea typeface="微软雅黑" panose="020B0503020204020204" charset="-122"/>
                <a:cs typeface="微软雅黑" panose="020B0503020204020204" charset="-122"/>
              </a:defRPr>
            </a:pPr>
            <a:r>
              <a:rPr sz="2100" b="1">
                <a:solidFill>
                  <a:srgbClr val="171715"/>
                </a:solidFill>
                <a:latin typeface="微软雅黑" panose="020B0503020204020204" charset="-122"/>
                <a:ea typeface="微软雅黑" panose="020B0503020204020204" charset="-122"/>
                <a:cs typeface="微软雅黑" panose="020B0503020204020204" charset="-122"/>
              </a:rPr>
              <a:t>模型预测：长期携带比例趋于 0</a:t>
            </a:r>
            <a:endParaRPr sz="2100"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57250" y="4895850"/>
            <a:ext cx="10382250" cy="8572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降低传播概率 β，或提高恢复概率 γ</a:t>
            </a:r>
            <a:endParaRPr sz="1875" b="0">
              <a:solidFill>
                <a:srgbClr val="171715"/>
              </a:solidFill>
              <a:latin typeface="微软雅黑" panose="020B0503020204020204" charset="-122"/>
              <a:ea typeface="微软雅黑" panose="020B0503020204020204" charset="-122"/>
              <a:cs typeface="微软雅黑" panose="020B0503020204020204" charset="-122"/>
            </a:endParaRPr>
          </a:p>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“2”依赖随机配对与单向传播设定</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0" name="图片 9"/>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Agent 交互与记忆更新</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系统机制</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05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§3.2，Figure 2，Algorithm 1；原图含有害文本示例</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pic>
        <p:nvPicPr>
          <p:cNvPr id="17" name="图片 16"/>
          <p:cNvPicPr>
            <a:picLocks noChangeAspect="1"/>
          </p:cNvPicPr>
          <p:nvPr/>
        </p:nvPicPr>
        <p:blipFill>
          <a:blip r:embed="rId2"/>
          <a:stretch>
            <a:fillRect/>
          </a:stretch>
        </p:blipFill>
        <p:spPr>
          <a:xfrm>
            <a:off x="714375" y="1505473"/>
            <a:ext cx="10763250" cy="3475578"/>
          </a:xfrm>
          <a:prstGeom prst="rect">
            <a:avLst/>
          </a:prstGeom>
        </p:spPr>
      </p:pic>
      <p:sp>
        <p:nvSpPr>
          <p:cNvPr id="9" name="矩形 8"/>
          <p:cNvSpPr>
            <a:spLocks noGrp="1"/>
          </p:cNvSpPr>
          <p:nvPr/>
        </p:nvSpPr>
        <p:spPr>
          <a:xfrm>
            <a:off x="819150" y="5238750"/>
            <a:ext cx="10477500" cy="571500"/>
          </a:xfrm>
          <a:prstGeom prst="rect">
            <a:avLst/>
          </a:prstGeom>
          <a:noFill/>
          <a:ln w="0">
            <a:noFill/>
          </a:ln>
        </p:spPr>
        <p:txBody>
          <a:bodyPr lIns="0" tIns="0" rIns="0" bIns="0">
            <a:noAutofit/>
          </a:bodyPr>
          <a:lstStyle/>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传播关键：回答方把收到的图像写入自己的相册</a:t>
            </a:r>
            <a:endParaRPr sz="1875"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攻击图像的三个目标</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攻击机制</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06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§3.3，式(9)–(11)；§4.1；附录D.2</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graphicFrame>
        <p:nvGraphicFramePr>
          <p:cNvPr id="18" name="表格 17"/>
          <p:cNvGraphicFramePr/>
          <p:nvPr/>
        </p:nvGraphicFramePr>
        <p:xfrm>
          <a:off x="819150" y="1552575"/>
          <a:ext cx="10477500" cy="2762252"/>
        </p:xfrm>
        <a:graphic>
          <a:graphicData uri="http://schemas.openxmlformats.org/drawingml/2006/table">
            <a:tbl>
              <a:tblPr/>
              <a:tblGrid>
                <a:gridCol w="3048000"/>
                <a:gridCol w="7429500"/>
              </a:tblGrid>
              <a:tr h="690563">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目标</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对应能力</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690563">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检索目标 Lᴿ</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不同计划下容易检索出这张图</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90563">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提问目标 LQ</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诱导提问方生成目标有害问题</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90563">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回答目标 LA</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诱导回答方生成目标有害回答</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9" name="矩形 8"/>
          <p:cNvSpPr>
            <a:spLocks noGrp="1"/>
          </p:cNvSpPr>
          <p:nvPr/>
        </p:nvSpPr>
        <p:spPr>
          <a:xfrm>
            <a:off x="857250" y="4695825"/>
            <a:ext cx="10477500" cy="523875"/>
          </a:xfrm>
          <a:prstGeom prst="rect">
            <a:avLst/>
          </a:prstGeom>
          <a:noFill/>
          <a:ln w="0">
            <a:noFill/>
          </a:ln>
        </p:spPr>
        <p:txBody>
          <a:bodyPr lIns="0" tIns="0" rIns="0" bIns="0">
            <a:noAutofit/>
          </a:bodyPr>
          <a:lstStyle/>
          <a:p>
            <a:pPr>
              <a:defRPr sz="2325" b="1">
                <a:solidFill>
                  <a:srgbClr val="171715"/>
                </a:solidFill>
                <a:latin typeface="微软雅黑" panose="020B0503020204020204" charset="-122"/>
                <a:ea typeface="微软雅黑" panose="020B0503020204020204" charset="-122"/>
                <a:cs typeface="微软雅黑" panose="020B0503020204020204" charset="-122"/>
              </a:defRPr>
            </a:pPr>
            <a:r>
              <a:rPr sz="2325" b="1">
                <a:solidFill>
                  <a:srgbClr val="171715"/>
                </a:solidFill>
                <a:latin typeface="微软雅黑" panose="020B0503020204020204" charset="-122"/>
                <a:ea typeface="微软雅黑" panose="020B0503020204020204" charset="-122"/>
                <a:cs typeface="微软雅黑" panose="020B0503020204020204" charset="-122"/>
              </a:rPr>
              <a:t>联合优化攻击图像　　L = Lᴿ + LQ + LA</a:t>
            </a:r>
            <a:endParaRPr sz="232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57250" y="5400675"/>
            <a:ext cx="10477500" cy="381000"/>
          </a:xfrm>
          <a:prstGeom prst="rect">
            <a:avLst/>
          </a:prstGeom>
          <a:noFill/>
          <a:ln w="0">
            <a:noFill/>
          </a:ln>
        </p:spPr>
        <p:txBody>
          <a:bodyPr lIns="0" tIns="0" rIns="0" bIns="0">
            <a:noAutofit/>
          </a:bodyPr>
          <a:lstStyle/>
          <a:p>
            <a:pPr>
              <a:defRPr sz="1650" b="0">
                <a:solidFill>
                  <a:srgbClr val="171715"/>
                </a:solidFill>
                <a:latin typeface="微软雅黑" panose="020B0503020204020204" charset="-122"/>
                <a:ea typeface="微软雅黑" panose="020B0503020204020204" charset="-122"/>
                <a:cs typeface="微软雅黑" panose="020B0503020204020204" charset="-122"/>
              </a:defRPr>
            </a:pPr>
            <a:r>
              <a:rPr sz="1650" b="0">
                <a:solidFill>
                  <a:srgbClr val="171715"/>
                </a:solidFill>
                <a:latin typeface="微软雅黑" panose="020B0503020204020204" charset="-122"/>
                <a:ea typeface="微软雅黑" panose="020B0503020204020204" charset="-122"/>
                <a:cs typeface="微软雅黑" panose="020B0503020204020204" charset="-122"/>
              </a:rPr>
              <a:t>像素攻击：限制每个像素的改变量　　边框攻击：限制修改区域</a:t>
            </a:r>
            <a:endParaRPr sz="1650"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0" name="图片 9"/>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实验设置与验证路线</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实验设置</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07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§4.1；M=512 来自无攻击的 N=64 系统</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graphicFrame>
        <p:nvGraphicFramePr>
          <p:cNvPr id="17" name="表格 16"/>
          <p:cNvGraphicFramePr/>
          <p:nvPr/>
        </p:nvGraphicFramePr>
        <p:xfrm>
          <a:off x="819150" y="1504950"/>
          <a:ext cx="10477500" cy="3286125"/>
        </p:xfrm>
        <a:graphic>
          <a:graphicData uri="http://schemas.openxmlformats.org/drawingml/2006/table">
            <a:tbl>
              <a:tblPr/>
              <a:tblGrid>
                <a:gridCol w="3048000"/>
                <a:gridCol w="7429500"/>
              </a:tblGrid>
              <a:tr h="657225">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项目</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常用配置</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65722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模型与检索</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LLaVA-1.5 7B ＋ CLIP ViT-L/224</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5722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传播环境</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N=256，|H|=3，|B|=10</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5722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攻击构造数据</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正常系统 N=64，聊天样本 M=512</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5722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有害目标</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从 AdvBench 574 条中筛选原本拒绝的目标</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9" name="矩形 8"/>
          <p:cNvSpPr>
            <a:spLocks noGrp="1"/>
          </p:cNvSpPr>
          <p:nvPr/>
        </p:nvSpPr>
        <p:spPr>
          <a:xfrm>
            <a:off x="819150" y="5219700"/>
            <a:ext cx="10477500" cy="571500"/>
          </a:xfrm>
          <a:prstGeom prst="rect">
            <a:avLst/>
          </a:prstGeom>
          <a:noFill/>
          <a:ln w="0">
            <a:noFill/>
          </a:ln>
        </p:spPr>
        <p:txBody>
          <a:bodyPr lIns="0" tIns="0" rIns="0" bIns="0">
            <a:noAutofit/>
          </a:bodyPr>
          <a:lstStyle/>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验证顺序：可行性与速度，再检查影响因素和适用范围</a:t>
            </a:r>
            <a:endParaRPr sz="1875"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怎样衡量感染与传播速度</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实验指标</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08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§4.1，Infection ratios 与 Evaluation metrics</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graphicFrame>
        <p:nvGraphicFramePr>
          <p:cNvPr id="18" name="表格 17"/>
          <p:cNvGraphicFramePr/>
          <p:nvPr/>
        </p:nvGraphicFramePr>
        <p:xfrm>
          <a:off x="819150" y="1524000"/>
          <a:ext cx="10477500" cy="2952752"/>
        </p:xfrm>
        <a:graphic>
          <a:graphicData uri="http://schemas.openxmlformats.org/drawingml/2006/table">
            <a:tbl>
              <a:tblPr/>
              <a:tblGrid>
                <a:gridCol w="2476500"/>
                <a:gridCol w="5334000"/>
                <a:gridCol w="2667000"/>
              </a:tblGrid>
              <a:tr h="738188">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指标</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统计什么</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读数方向</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738188">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累计感染比例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截至当前曾输出目标的 Agent</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越高，波及越广</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738188">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当前感染比例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本轮输出目标的 Agent</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越高，当前影响越大</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738188">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达到90%的首轮</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首次达到阈值所需轮数</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越少，扩散越快</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9" name="矩形 8"/>
          <p:cNvSpPr>
            <a:spLocks noGrp="1"/>
          </p:cNvSpPr>
          <p:nvPr/>
        </p:nvSpPr>
        <p:spPr>
          <a:xfrm>
            <a:off x="857250" y="4857750"/>
            <a:ext cx="10477500" cy="428625"/>
          </a:xfrm>
          <a:prstGeom prst="rect">
            <a:avLst/>
          </a:prstGeom>
          <a:noFill/>
          <a:ln w="0">
            <a:noFill/>
          </a:ln>
        </p:spPr>
        <p:txBody>
          <a:bodyPr lIns="0" tIns="0" rIns="0" bIns="0">
            <a:noAutofit/>
          </a:bodyPr>
          <a:lstStyle/>
          <a:p>
            <a:pPr>
              <a:defRPr sz="2175" b="1">
                <a:solidFill>
                  <a:srgbClr val="171715"/>
                </a:solidFill>
                <a:latin typeface="微软雅黑" panose="020B0503020204020204" charset="-122"/>
                <a:ea typeface="微软雅黑" panose="020B0503020204020204" charset="-122"/>
                <a:cs typeface="微软雅黑" panose="020B0503020204020204" charset="-122"/>
              </a:defRPr>
            </a:pPr>
            <a:r>
              <a:rPr sz="2175" b="1">
                <a:solidFill>
                  <a:srgbClr val="171715"/>
                </a:solidFill>
                <a:latin typeface="微软雅黑" panose="020B0503020204020204" charset="-122"/>
                <a:ea typeface="微软雅黑" panose="020B0503020204020204" charset="-122"/>
                <a:cs typeface="微软雅黑" panose="020B0503020204020204" charset="-122"/>
              </a:rPr>
              <a:t>成功判据：输出与预设有害目标精确匹配</a:t>
            </a:r>
            <a:endParaRPr sz="217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57250" y="5429250"/>
            <a:ext cx="10477500" cy="361950"/>
          </a:xfrm>
          <a:prstGeom prst="rect">
            <a:avLst/>
          </a:prstGeom>
          <a:noFill/>
          <a:ln w="0">
            <a:noFill/>
          </a:ln>
        </p:spPr>
        <p:txBody>
          <a:bodyPr lIns="0" tIns="0" rIns="0" bIns="0">
            <a:noAutofit/>
          </a:bodyPr>
          <a:lstStyle/>
          <a:p>
            <a:pPr>
              <a:defRPr sz="1725" b="0">
                <a:solidFill>
                  <a:srgbClr val="171715"/>
                </a:solidFill>
                <a:latin typeface="微软雅黑" panose="020B0503020204020204" charset="-122"/>
                <a:ea typeface="微软雅黑" panose="020B0503020204020204" charset="-122"/>
                <a:cs typeface="微软雅黑" panose="020B0503020204020204" charset="-122"/>
              </a:defRPr>
            </a:pPr>
            <a:r>
              <a:rPr sz="1725" b="0">
                <a:solidFill>
                  <a:srgbClr val="171715"/>
                </a:solidFill>
                <a:latin typeface="微软雅黑" panose="020B0503020204020204" charset="-122"/>
                <a:ea typeface="微软雅黑" panose="020B0503020204020204" charset="-122"/>
                <a:cs typeface="微软雅黑" panose="020B0503020204020204" charset="-122"/>
              </a:rPr>
              <a:t>实验输出指标与理论携带状态 cₜ 不同，不能直接混用</a:t>
            </a:r>
            <a:endParaRPr sz="1725"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2" name="图片 11"/>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主实验：与非传染式攻击比较</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1 · Figure 3 左</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09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§4.2，Figure 3 左；原始曲线</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2"/>
          <a:stretch>
            <a:fillRect/>
          </a:stretch>
        </p:blipFill>
        <p:spPr>
          <a:xfrm>
            <a:off x="811529" y="1428750"/>
            <a:ext cx="6206491" cy="4267200"/>
          </a:xfrm>
          <a:prstGeom prst="rect">
            <a:avLst/>
          </a:prstGeom>
        </p:spPr>
      </p:pic>
      <p:sp>
        <p:nvSpPr>
          <p:cNvPr id="9" name="矩形 8"/>
          <p:cNvSpPr>
            <a:spLocks noGrp="1"/>
          </p:cNvSpPr>
          <p:nvPr/>
        </p:nvSpPr>
        <p:spPr>
          <a:xfrm>
            <a:off x="7543800" y="1685925"/>
            <a:ext cx="3810000" cy="857250"/>
          </a:xfrm>
          <a:prstGeom prst="rect">
            <a:avLst/>
          </a:prstGeom>
          <a:noFill/>
          <a:ln w="0">
            <a:noFill/>
          </a:ln>
        </p:spPr>
        <p:txBody>
          <a:bodyPr lIns="0" tIns="0" rIns="0" bIns="0">
            <a:noAutofit/>
          </a:bodyPr>
          <a:lstStyle/>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横轴：聊天轮数</a:t>
            </a:r>
            <a:endParaRPr sz="1875" b="1">
              <a:solidFill>
                <a:srgbClr val="171715"/>
              </a:solidFill>
              <a:latin typeface="微软雅黑" panose="020B0503020204020204" charset="-122"/>
              <a:ea typeface="微软雅黑" panose="020B0503020204020204" charset="-122"/>
              <a:cs typeface="微软雅黑" panose="020B0503020204020204" charset="-122"/>
            </a:endParaRPr>
          </a:p>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纵轴：累计感染比例</a:t>
            </a:r>
            <a:endParaRPr sz="187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543800" y="2914650"/>
            <a:ext cx="3905250" cy="16192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VP / TP：本设置中未成功</a:t>
            </a:r>
            <a:endParaRPr sz="1875" b="0">
              <a:solidFill>
                <a:srgbClr val="171715"/>
              </a:solidFill>
              <a:latin typeface="微软雅黑" panose="020B0503020204020204" charset="-122"/>
              <a:ea typeface="微软雅黑" panose="020B0503020204020204" charset="-122"/>
              <a:cs typeface="微软雅黑" panose="020B0503020204020204" charset="-122"/>
            </a:endParaRPr>
          </a:p>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Sequential：逐个攻击</a:t>
            </a:r>
            <a:endParaRPr sz="1875" b="0">
              <a:solidFill>
                <a:srgbClr val="171715"/>
              </a:solidFill>
              <a:latin typeface="微软雅黑" panose="020B0503020204020204" charset="-122"/>
              <a:ea typeface="微软雅黑" panose="020B0503020204020204" charset="-122"/>
              <a:cs typeface="微软雅黑" panose="020B0503020204020204" charset="-122"/>
            </a:endParaRPr>
          </a:p>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Ours：初始注入后自动扩散</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543800" y="4914900"/>
            <a:ext cx="3905250" cy="762000"/>
          </a:xfrm>
          <a:prstGeom prst="rect">
            <a:avLst/>
          </a:prstGeom>
          <a:noFill/>
          <a:ln w="0">
            <a:noFill/>
          </a:ln>
        </p:spPr>
        <p:txBody>
          <a:bodyPr lIns="0" tIns="0" rIns="0" bIns="0">
            <a:noAutofit/>
          </a:bodyPr>
          <a:lstStyle/>
          <a:p>
            <a:pPr>
              <a:defRPr sz="1725" b="1">
                <a:solidFill>
                  <a:srgbClr val="171715"/>
                </a:solidFill>
                <a:latin typeface="微软雅黑" panose="020B0503020204020204" charset="-122"/>
                <a:ea typeface="微软雅黑" panose="020B0503020204020204" charset="-122"/>
                <a:cs typeface="微软雅黑" panose="020B0503020204020204" charset="-122"/>
              </a:defRPr>
            </a:pPr>
            <a:r>
              <a:rPr sz="1725" b="1">
                <a:solidFill>
                  <a:srgbClr val="171715"/>
                </a:solidFill>
                <a:latin typeface="微软雅黑" panose="020B0503020204020204" charset="-122"/>
                <a:ea typeface="微软雅黑" panose="020B0503020204020204" charset="-122"/>
                <a:cs typeface="微软雅黑" panose="020B0503020204020204" charset="-122"/>
              </a:rPr>
              <a:t>比较的是传播轮数</a:t>
            </a:r>
            <a:endParaRPr sz="1725" b="1">
              <a:solidFill>
                <a:srgbClr val="171715"/>
              </a:solidFill>
              <a:latin typeface="微软雅黑" panose="020B0503020204020204" charset="-122"/>
              <a:ea typeface="微软雅黑" panose="020B0503020204020204" charset="-122"/>
              <a:cs typeface="微软雅黑" panose="020B0503020204020204" charset="-122"/>
            </a:endParaRPr>
          </a:p>
          <a:p>
            <a:pPr>
              <a:defRPr sz="1725" b="1">
                <a:solidFill>
                  <a:srgbClr val="171715"/>
                </a:solidFill>
                <a:latin typeface="微软雅黑" panose="020B0503020204020204" charset="-122"/>
                <a:ea typeface="微软雅黑" panose="020B0503020204020204" charset="-122"/>
                <a:cs typeface="微软雅黑" panose="020B0503020204020204" charset="-122"/>
              </a:defRPr>
            </a:pPr>
            <a:r>
              <a:rPr sz="1725" b="1">
                <a:solidFill>
                  <a:srgbClr val="171715"/>
                </a:solidFill>
                <a:latin typeface="微软雅黑" panose="020B0503020204020204" charset="-122"/>
                <a:ea typeface="微软雅黑" panose="020B0503020204020204" charset="-122"/>
                <a:cs typeface="微软雅黑" panose="020B0503020204020204" charset="-122"/>
              </a:rPr>
              <a:t>不代表总计算量仅为 O(log N)</a:t>
            </a:r>
            <a:endParaRPr sz="1725"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百万规模结果的准确读法</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2 · §4.2 与附录E.1</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10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§4.2；附录E.1，Figure 19(c)</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57250" y="1685925"/>
            <a:ext cx="10477500" cy="619125"/>
          </a:xfrm>
          <a:prstGeom prst="rect">
            <a:avLst/>
          </a:prstGeom>
          <a:noFill/>
          <a:ln w="0">
            <a:noFill/>
          </a:ln>
        </p:spPr>
        <p:txBody>
          <a:bodyPr lIns="0" tIns="0" rIns="0" bIns="0">
            <a:noAutofit/>
          </a:bodyPr>
          <a:lstStyle/>
          <a:p>
            <a:pPr>
              <a:defRPr sz="3225" b="1">
                <a:solidFill>
                  <a:srgbClr val="171715"/>
                </a:solidFill>
                <a:latin typeface="微软雅黑" panose="020B0503020204020204" charset="-122"/>
                <a:ea typeface="微软雅黑" panose="020B0503020204020204" charset="-122"/>
                <a:cs typeface="微软雅黑" panose="020B0503020204020204" charset="-122"/>
              </a:defRPr>
            </a:pPr>
            <a:r>
              <a:rPr sz="3225" b="1">
                <a:solidFill>
                  <a:srgbClr val="171715"/>
                </a:solidFill>
                <a:latin typeface="微软雅黑" panose="020B0503020204020204" charset="-122"/>
                <a:ea typeface="微软雅黑" panose="020B0503020204020204" charset="-122"/>
                <a:cs typeface="微软雅黑" panose="020B0503020204020204" charset="-122"/>
              </a:rPr>
              <a:t>N = 2²⁰ = 1,048,576</a:t>
            </a:r>
            <a:endParaRPr sz="3225" b="1">
              <a:solidFill>
                <a:srgbClr val="171715"/>
              </a:solidFill>
              <a:latin typeface="微软雅黑" panose="020B0503020204020204" charset="-122"/>
              <a:ea typeface="微软雅黑" panose="020B0503020204020204" charset="-122"/>
              <a:cs typeface="微软雅黑" panose="020B0503020204020204" charset="-122"/>
            </a:endParaRPr>
          </a:p>
        </p:txBody>
      </p:sp>
      <p:graphicFrame>
        <p:nvGraphicFramePr>
          <p:cNvPr id="19" name="表格 18"/>
          <p:cNvGraphicFramePr/>
          <p:nvPr/>
        </p:nvGraphicFramePr>
        <p:xfrm>
          <a:off x="819150" y="2600325"/>
          <a:ext cx="10477500" cy="2667000"/>
        </p:xfrm>
        <a:graphic>
          <a:graphicData uri="http://schemas.openxmlformats.org/drawingml/2006/table">
            <a:tbl>
              <a:tblPr/>
              <a:tblGrid>
                <a:gridCol w="3333750"/>
                <a:gridCol w="7143750"/>
              </a:tblGrid>
              <a:tr h="533400">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设置 / 结果</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论文报告</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53340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初始携带者</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1,024 个 Agent，使用同一张攻击图像</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53340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初始携带比例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c₀ = 1/1024</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533400">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第22轮当前感染比例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96.23%</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10" name="矩形 9"/>
          <p:cNvSpPr>
            <a:spLocks noGrp="1"/>
          </p:cNvSpPr>
          <p:nvPr/>
        </p:nvSpPr>
        <p:spPr>
          <a:xfrm>
            <a:off x="857250" y="5180330"/>
            <a:ext cx="10477500" cy="381000"/>
          </a:xfrm>
          <a:prstGeom prst="rect">
            <a:avLst/>
          </a:prstGeom>
          <a:noFill/>
          <a:ln w="0">
            <a:noFill/>
          </a:ln>
        </p:spPr>
        <p:txBody>
          <a:bodyPr lIns="0" tIns="0" rIns="0" bIns="0">
            <a:noAutofit/>
          </a:bodyPr>
          <a:lstStyle/>
          <a:p>
            <a:pPr>
              <a:defRPr sz="2100" b="1">
                <a:solidFill>
                  <a:srgbClr val="171715"/>
                </a:solidFill>
                <a:latin typeface="微软雅黑" panose="020B0503020204020204" charset="-122"/>
                <a:ea typeface="微软雅黑" panose="020B0503020204020204" charset="-122"/>
                <a:cs typeface="微软雅黑" panose="020B0503020204020204" charset="-122"/>
              </a:defRPr>
            </a:pPr>
            <a:r>
              <a:rPr sz="2100" b="1">
                <a:solidFill>
                  <a:srgbClr val="171715"/>
                </a:solidFill>
                <a:latin typeface="微软雅黑" panose="020B0503020204020204" charset="-122"/>
                <a:ea typeface="微软雅黑" panose="020B0503020204020204" charset="-122"/>
                <a:cs typeface="微软雅黑" panose="020B0503020204020204" charset="-122"/>
              </a:rPr>
              <a:t>单张图像 ≠ 单个初始携带者</a:t>
            </a:r>
            <a:endParaRPr sz="2100"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对话更丰富后，传播是否仍成立</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3 · Table 1 节选</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11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§4.3；Table 1，Border h=6，N=256，|H|=3，|B|=10</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graphicFrame>
        <p:nvGraphicFramePr>
          <p:cNvPr id="18" name="表格 17"/>
          <p:cNvGraphicFramePr/>
          <p:nvPr/>
        </p:nvGraphicFramePr>
        <p:xfrm>
          <a:off x="819150" y="1666875"/>
          <a:ext cx="10477500" cy="2857500"/>
        </p:xfrm>
        <a:graphic>
          <a:graphicData uri="http://schemas.openxmlformats.org/drawingml/2006/table">
            <a:tbl>
              <a:tblPr/>
              <a:tblGrid>
                <a:gridCol w="4762500"/>
                <a:gridCol w="2857500"/>
                <a:gridCol w="2857500"/>
              </a:tblGrid>
              <a:tr h="714375">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指标</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低文本多样性</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高文本多样性</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71437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第16轮累计感染比例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93.75%</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88.98%</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71437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第16轮当前感染比例</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90.62%</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81.48%</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714375">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当前比例首次达到90%</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16.00 轮</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19.00 轮</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9" name="矩形 8"/>
          <p:cNvSpPr>
            <a:spLocks noGrp="1"/>
          </p:cNvSpPr>
          <p:nvPr/>
        </p:nvSpPr>
        <p:spPr>
          <a:xfrm>
            <a:off x="857250" y="4953000"/>
            <a:ext cx="10477500" cy="523875"/>
          </a:xfrm>
          <a:prstGeom prst="rect">
            <a:avLst/>
          </a:prstGeom>
          <a:noFill/>
          <a:ln w="0">
            <a:noFill/>
          </a:ln>
        </p:spPr>
        <p:txBody>
          <a:bodyPr lIns="0" tIns="0" rIns="0" bIns="0">
            <a:noAutofit/>
          </a:bodyPr>
          <a:lstStyle/>
          <a:p>
            <a:pPr>
              <a:defRPr sz="2175" b="1">
                <a:solidFill>
                  <a:srgbClr val="171715"/>
                </a:solidFill>
                <a:latin typeface="微软雅黑" panose="020B0503020204020204" charset="-122"/>
                <a:ea typeface="微软雅黑" panose="020B0503020204020204" charset="-122"/>
                <a:cs typeface="微软雅黑" panose="020B0503020204020204" charset="-122"/>
              </a:defRPr>
            </a:pPr>
            <a:r>
              <a:rPr sz="2175" b="1">
                <a:solidFill>
                  <a:srgbClr val="171715"/>
                </a:solidFill>
                <a:latin typeface="微软雅黑" panose="020B0503020204020204" charset="-122"/>
                <a:ea typeface="微软雅黑" panose="020B0503020204020204" charset="-122"/>
                <a:cs typeface="微软雅黑" panose="020B0503020204020204" charset="-122"/>
              </a:rPr>
              <a:t>相同攻击与系统规模下，对话更丰富使扩散变慢</a:t>
            </a:r>
            <a:endParaRPr sz="217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57250" y="5524500"/>
            <a:ext cx="10477500" cy="285750"/>
          </a:xfrm>
          <a:prstGeom prst="rect">
            <a:avLst/>
          </a:prstGeom>
          <a:noFill/>
          <a:ln w="0">
            <a:noFill/>
          </a:ln>
        </p:spPr>
        <p:txBody>
          <a:bodyPr lIns="0" tIns="0" rIns="0" bIns="0">
            <a:noAutofit/>
          </a:bodyPr>
          <a:lstStyle/>
          <a:p>
            <a:pPr>
              <a:defRPr sz="1500" b="0">
                <a:solidFill>
                  <a:srgbClr val="55554E"/>
                </a:solidFill>
                <a:latin typeface="微软雅黑" panose="020B0503020204020204" charset="-122"/>
                <a:ea typeface="微软雅黑" panose="020B0503020204020204" charset="-122"/>
                <a:cs typeface="微软雅黑" panose="020B0503020204020204" charset="-122"/>
              </a:defRPr>
            </a:pPr>
            <a:r>
              <a:rPr sz="1500" b="0">
                <a:solidFill>
                  <a:srgbClr val="55554E"/>
                </a:solidFill>
                <a:latin typeface="微软雅黑" panose="020B0503020204020204" charset="-122"/>
                <a:ea typeface="微软雅黑" panose="020B0503020204020204" charset="-122"/>
                <a:cs typeface="微软雅黑" panose="020B0503020204020204" charset="-122"/>
              </a:rPr>
              <a:t>轮数含跨五个目标的平均，因此可能出现小数</a:t>
            </a:r>
            <a:endParaRPr sz="1500" b="0">
              <a:solidFill>
                <a:srgbClr val="55554E"/>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2" name="图片 11"/>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失败案例：载体传播与有害行为脱节</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4 · Figure 4</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12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§4.3，Figure 4；附录E.4；图为原始失败案例之一</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2"/>
          <a:stretch>
            <a:fillRect/>
          </a:stretch>
        </p:blipFill>
        <p:spPr>
          <a:xfrm>
            <a:off x="1119188" y="1428750"/>
            <a:ext cx="4286250" cy="4286250"/>
          </a:xfrm>
          <a:prstGeom prst="rect">
            <a:avLst/>
          </a:prstGeom>
        </p:spPr>
      </p:pic>
      <p:sp>
        <p:nvSpPr>
          <p:cNvPr id="9" name="矩形 8"/>
          <p:cNvSpPr>
            <a:spLocks noGrp="1"/>
          </p:cNvSpPr>
          <p:nvPr/>
        </p:nvSpPr>
        <p:spPr>
          <a:xfrm>
            <a:off x="6238875" y="1619250"/>
            <a:ext cx="5095875" cy="952500"/>
          </a:xfrm>
          <a:prstGeom prst="rect">
            <a:avLst/>
          </a:prstGeom>
          <a:noFill/>
          <a:ln w="0">
            <a:noFill/>
          </a:ln>
        </p:spPr>
        <p:txBody>
          <a:bodyPr lIns="0" tIns="0" rIns="0" bIns="0">
            <a:noAutofit/>
          </a:bodyPr>
          <a:lstStyle/>
          <a:p>
            <a:pPr>
              <a:defRPr sz="1950" b="1">
                <a:solidFill>
                  <a:srgbClr val="171715"/>
                </a:solidFill>
                <a:latin typeface="微软雅黑" panose="020B0503020204020204" charset="-122"/>
                <a:ea typeface="微软雅黑" panose="020B0503020204020204" charset="-122"/>
                <a:cs typeface="微软雅黑" panose="020B0503020204020204" charset="-122"/>
              </a:defRPr>
            </a:pPr>
            <a:r>
              <a:rPr lang="zh-CN" sz="1950" b="1">
                <a:solidFill>
                  <a:srgbClr val="171715"/>
                </a:solidFill>
                <a:latin typeface="微软雅黑" panose="020B0503020204020204" charset="-122"/>
                <a:ea typeface="微软雅黑" panose="020B0503020204020204" charset="-122"/>
                <a:cs typeface="微软雅黑" panose="020B0503020204020204" charset="-122"/>
              </a:rPr>
              <a:t>上图：</a:t>
            </a:r>
            <a:r>
              <a:rPr sz="1950" b="1">
                <a:solidFill>
                  <a:srgbClr val="171715"/>
                </a:solidFill>
                <a:latin typeface="微软雅黑" panose="020B0503020204020204" charset="-122"/>
                <a:ea typeface="微软雅黑" panose="020B0503020204020204" charset="-122"/>
                <a:cs typeface="微软雅黑" panose="020B0503020204020204" charset="-122"/>
              </a:rPr>
              <a:t>感染比例</a:t>
            </a:r>
            <a:endParaRPr sz="1950" b="1">
              <a:solidFill>
                <a:srgbClr val="171715"/>
              </a:solidFill>
              <a:latin typeface="微软雅黑" panose="020B0503020204020204" charset="-122"/>
              <a:ea typeface="微软雅黑" panose="020B0503020204020204" charset="-122"/>
              <a:cs typeface="微软雅黑" panose="020B0503020204020204" charset="-122"/>
            </a:endParaRPr>
          </a:p>
          <a:p>
            <a:pPr>
              <a:defRPr sz="1950" b="1">
                <a:solidFill>
                  <a:srgbClr val="171715"/>
                </a:solidFill>
                <a:latin typeface="微软雅黑" panose="020B0503020204020204" charset="-122"/>
                <a:ea typeface="微软雅黑" panose="020B0503020204020204" charset="-122"/>
                <a:cs typeface="微软雅黑" panose="020B0503020204020204" charset="-122"/>
              </a:defRPr>
            </a:pPr>
            <a:r>
              <a:rPr lang="zh-CN" sz="1950" b="1">
                <a:solidFill>
                  <a:srgbClr val="171715"/>
                </a:solidFill>
                <a:latin typeface="微软雅黑" panose="020B0503020204020204" charset="-122"/>
                <a:ea typeface="微软雅黑" panose="020B0503020204020204" charset="-122"/>
                <a:cs typeface="微软雅黑" panose="020B0503020204020204" charset="-122"/>
              </a:rPr>
              <a:t>下图：</a:t>
            </a:r>
            <a:r>
              <a:rPr sz="1950" b="1">
                <a:solidFill>
                  <a:srgbClr val="171715"/>
                </a:solidFill>
                <a:latin typeface="微软雅黑" panose="020B0503020204020204" charset="-122"/>
                <a:ea typeface="微软雅黑" panose="020B0503020204020204" charset="-122"/>
                <a:cs typeface="微软雅黑" panose="020B0503020204020204" charset="-122"/>
              </a:rPr>
              <a:t>症状与传播概率</a:t>
            </a:r>
            <a:endParaRPr sz="1950"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6238875" y="2943225"/>
            <a:ext cx="5095875" cy="952500"/>
          </a:xfrm>
          <a:prstGeom prst="rect">
            <a:avLst/>
          </a:prstGeom>
          <a:noFill/>
          <a:ln w="0">
            <a:noFill/>
          </a:ln>
        </p:spPr>
        <p:txBody>
          <a:bodyPr lIns="0" tIns="0" rIns="0" bIns="0">
            <a:noAutofit/>
          </a:bodyPr>
          <a:lstStyle/>
          <a:p>
            <a:pPr>
              <a:defRPr sz="2175" b="1">
                <a:solidFill>
                  <a:srgbClr val="171715"/>
                </a:solidFill>
                <a:latin typeface="微软雅黑" panose="020B0503020204020204" charset="-122"/>
                <a:ea typeface="微软雅黑" panose="020B0503020204020204" charset="-122"/>
                <a:cs typeface="微软雅黑" panose="020B0503020204020204" charset="-122"/>
              </a:defRPr>
            </a:pPr>
            <a:r>
              <a:rPr sz="2175" b="1">
                <a:solidFill>
                  <a:srgbClr val="171715"/>
                </a:solidFill>
                <a:latin typeface="微软雅黑" panose="020B0503020204020204" charset="-122"/>
                <a:ea typeface="微软雅黑" panose="020B0503020204020204" charset="-122"/>
                <a:cs typeface="微软雅黑" panose="020B0503020204020204" charset="-122"/>
              </a:rPr>
              <a:t>β 仍高</a:t>
            </a:r>
            <a:r>
              <a:rPr lang="zh-CN" sz="2175" b="1">
                <a:solidFill>
                  <a:srgbClr val="171715"/>
                </a:solidFill>
                <a:latin typeface="微软雅黑" panose="020B0503020204020204" charset="-122"/>
                <a:ea typeface="微软雅黑" panose="020B0503020204020204" charset="-122"/>
                <a:cs typeface="微软雅黑" panose="020B0503020204020204" charset="-122"/>
              </a:rPr>
              <a:t>，</a:t>
            </a:r>
            <a:r>
              <a:rPr sz="2175" b="1">
                <a:solidFill>
                  <a:srgbClr val="171715"/>
                </a:solidFill>
                <a:latin typeface="微软雅黑" panose="020B0503020204020204" charset="-122"/>
                <a:ea typeface="微软雅黑" panose="020B0503020204020204" charset="-122"/>
                <a:cs typeface="微软雅黑" panose="020B0503020204020204" charset="-122"/>
              </a:rPr>
              <a:t>但α</a:t>
            </a:r>
            <a:r>
              <a:rPr lang="zh-CN" sz="2175" b="1">
                <a:solidFill>
                  <a:srgbClr val="171715"/>
                </a:solidFill>
                <a:latin typeface="微软雅黑" panose="020B0503020204020204" charset="-122"/>
                <a:ea typeface="微软雅黑" panose="020B0503020204020204" charset="-122"/>
                <a:cs typeface="微软雅黑" panose="020B0503020204020204" charset="-122"/>
              </a:rPr>
              <a:t>较低</a:t>
            </a:r>
            <a:endParaRPr lang="zh-CN" sz="217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5735955" y="4364990"/>
            <a:ext cx="5095875" cy="114300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lang="zh-CN" sz="1875" b="0">
                <a:solidFill>
                  <a:srgbClr val="171715"/>
                </a:solidFill>
                <a:latin typeface="微软雅黑" panose="020B0503020204020204" charset="-122"/>
                <a:ea typeface="微软雅黑" panose="020B0503020204020204" charset="-122"/>
                <a:cs typeface="微软雅黑" panose="020B0503020204020204" charset="-122"/>
              </a:rPr>
              <a:t>失败案例说明传播这一环节表现的好，但诱导有害行为这一环节仍</a:t>
            </a:r>
            <a:r>
              <a:rPr lang="zh-CN" sz="1875" b="0">
                <a:solidFill>
                  <a:srgbClr val="171715"/>
                </a:solidFill>
                <a:latin typeface="微软雅黑" panose="020B0503020204020204" charset="-122"/>
                <a:ea typeface="微软雅黑" panose="020B0503020204020204" charset="-122"/>
                <a:cs typeface="微软雅黑" panose="020B0503020204020204" charset="-122"/>
              </a:rPr>
              <a:t>不稳定</a:t>
            </a:r>
            <a:endParaRPr lang="zh-CN" sz="1875"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图像记忆容量对传播的双重影响</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5 · Table 2 节选</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13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§4.4；Table 2，Border h=8，N=256，高文本多样性</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graphicFrame>
        <p:nvGraphicFramePr>
          <p:cNvPr id="18" name="表格 17"/>
          <p:cNvGraphicFramePr/>
          <p:nvPr/>
        </p:nvGraphicFramePr>
        <p:xfrm>
          <a:off x="819150" y="1714500"/>
          <a:ext cx="10477500" cy="2714625"/>
        </p:xfrm>
        <a:graphic>
          <a:graphicData uri="http://schemas.openxmlformats.org/drawingml/2006/table">
            <a:tbl>
              <a:tblPr/>
              <a:tblGrid>
                <a:gridCol w="2476500"/>
                <a:gridCol w="4095750"/>
                <a:gridCol w="3905250"/>
              </a:tblGrid>
              <a:tr h="678656">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相册容量 |B|</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第16轮当前感染比例</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c>
                  <a:txBody>
                    <a:bodyPr/>
                    <a:lstStyle/>
                    <a:p>
                      <a:r>
                        <a:rPr sz="1650" b="1">
                          <a:solidFill>
                            <a:srgbClr val="171715"/>
                          </a:solidFill>
                          <a:latin typeface="微软雅黑" panose="020B0503020204020204" charset="-122"/>
                          <a:ea typeface="微软雅黑" panose="020B0503020204020204" charset="-122"/>
                          <a:cs typeface="微软雅黑" panose="020B0503020204020204" charset="-122"/>
                        </a:rPr>
                        <a:t>当前比例达到90%的轮数</a:t>
                      </a:r>
                      <a:endParaRPr sz="1650" b="1">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FDA62"/>
                    </a:solidFill>
                  </a:tcPr>
                </a:tc>
              </a:tr>
              <a:tr h="678656">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2</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56.09%</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23.20</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78656">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6</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90.16%</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16.20</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r h="678656">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10</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88.91%</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c>
                  <a:txBody>
                    <a:bodyPr/>
                    <a:lstStyle/>
                    <a:p>
                      <a:r>
                        <a:rPr sz="1650" b="0">
                          <a:solidFill>
                            <a:srgbClr val="171715"/>
                          </a:solidFill>
                          <a:latin typeface="微软雅黑" panose="020B0503020204020204" charset="-122"/>
                          <a:ea typeface="微软雅黑" panose="020B0503020204020204" charset="-122"/>
                          <a:cs typeface="微软雅黑" panose="020B0503020204020204" charset="-122"/>
                        </a:rPr>
                        <a:t>16.80</a:t>
                      </a:r>
                      <a:endParaRPr sz="1650" b="0">
                        <a:solidFill>
                          <a:srgbClr val="171715"/>
                        </a:solidFill>
                        <a:latin typeface="微软雅黑" panose="020B0503020204020204" charset="-122"/>
                        <a:ea typeface="微软雅黑" panose="020B0503020204020204" charset="-122"/>
                        <a:cs typeface="微软雅黑" panose="020B0503020204020204" charset="-122"/>
                      </a:endParaRPr>
                    </a:p>
                  </a:txBody>
                  <a:tcPr marL="123825" marR="85725" marT="95250" marB="76200">
                    <a:solidFill>
                      <a:srgbClr val="F2F1E9"/>
                    </a:solidFill>
                  </a:tcPr>
                </a:tc>
              </a:tr>
            </a:tbl>
          </a:graphicData>
        </a:graphic>
      </p:graphicFrame>
      <p:sp>
        <p:nvSpPr>
          <p:cNvPr id="9" name="矩形 8"/>
          <p:cNvSpPr>
            <a:spLocks noGrp="1"/>
          </p:cNvSpPr>
          <p:nvPr/>
        </p:nvSpPr>
        <p:spPr>
          <a:xfrm>
            <a:off x="857250" y="4895850"/>
            <a:ext cx="10477500" cy="523875"/>
          </a:xfrm>
          <a:prstGeom prst="rect">
            <a:avLst/>
          </a:prstGeom>
          <a:noFill/>
          <a:ln w="0">
            <a:noFill/>
          </a:ln>
        </p:spPr>
        <p:txBody>
          <a:bodyPr lIns="0" tIns="0" rIns="0" bIns="0">
            <a:noAutofit/>
          </a:bodyPr>
          <a:lstStyle/>
          <a:p>
            <a:pPr>
              <a:defRPr sz="2025" b="1">
                <a:solidFill>
                  <a:srgbClr val="171715"/>
                </a:solidFill>
                <a:latin typeface="微软雅黑" panose="020B0503020204020204" charset="-122"/>
                <a:ea typeface="微软雅黑" panose="020B0503020204020204" charset="-122"/>
                <a:cs typeface="微软雅黑" panose="020B0503020204020204" charset="-122"/>
              </a:defRPr>
            </a:pPr>
            <a:r>
              <a:rPr sz="2025" b="1">
                <a:solidFill>
                  <a:srgbClr val="171715"/>
                </a:solidFill>
                <a:latin typeface="微软雅黑" panose="020B0503020204020204" charset="-122"/>
                <a:ea typeface="微软雅黑" panose="020B0503020204020204" charset="-122"/>
                <a:cs typeface="微软雅黑" panose="020B0503020204020204" charset="-122"/>
              </a:rPr>
              <a:t>小相册：载体更易淘汰　　大相册：检索竞争也可能增加</a:t>
            </a:r>
            <a:endParaRPr sz="202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57250" y="5505450"/>
            <a:ext cx="10477500" cy="333375"/>
          </a:xfrm>
          <a:prstGeom prst="rect">
            <a:avLst/>
          </a:prstGeom>
          <a:noFill/>
          <a:ln w="0">
            <a:noFill/>
          </a:ln>
        </p:spPr>
        <p:txBody>
          <a:bodyPr lIns="0" tIns="0" rIns="0" bIns="0">
            <a:noAutofit/>
          </a:bodyPr>
          <a:lstStyle/>
          <a:p>
            <a:pPr>
              <a:defRPr sz="1725" b="0">
                <a:solidFill>
                  <a:srgbClr val="171715"/>
                </a:solidFill>
                <a:latin typeface="微软雅黑" panose="020B0503020204020204" charset="-122"/>
                <a:ea typeface="微软雅黑" panose="020B0503020204020204" charset="-122"/>
                <a:cs typeface="微软雅黑" panose="020B0503020204020204" charset="-122"/>
              </a:defRPr>
            </a:pPr>
            <a:r>
              <a:rPr sz="1725" b="0">
                <a:solidFill>
                  <a:srgbClr val="171715"/>
                </a:solidFill>
                <a:latin typeface="微软雅黑" panose="020B0503020204020204" charset="-122"/>
                <a:ea typeface="微软雅黑" panose="020B0503020204020204" charset="-122"/>
                <a:cs typeface="微软雅黑" panose="020B0503020204020204" charset="-122"/>
              </a:rPr>
              <a:t>记忆容量会改变传播条件，尚不能据此得到完整防护方案</a:t>
            </a:r>
            <a:endParaRPr sz="1725"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历史长度与攻击构造样本</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6 · Table 2 与 Figure 5</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14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§4.4；Table 2；Figure 5 左，Border h=8</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09625" y="1762125"/>
            <a:ext cx="4762500" cy="1333500"/>
          </a:xfrm>
          <a:prstGeom prst="rect">
            <a:avLst/>
          </a:prstGeom>
          <a:noFill/>
          <a:ln w="0">
            <a:noFill/>
          </a:ln>
        </p:spPr>
        <p:txBody>
          <a:bodyPr lIns="0" tIns="0" rIns="0" bIns="0">
            <a:noAutofit/>
          </a:bodyPr>
          <a:lstStyle/>
          <a:p>
            <a:pPr>
              <a:defRPr sz="2250" b="1">
                <a:solidFill>
                  <a:srgbClr val="171715"/>
                </a:solidFill>
                <a:latin typeface="微软雅黑" panose="020B0503020204020204" charset="-122"/>
                <a:ea typeface="微软雅黑" panose="020B0503020204020204" charset="-122"/>
                <a:cs typeface="微软雅黑" panose="020B0503020204020204" charset="-122"/>
              </a:defRPr>
            </a:pPr>
            <a:r>
              <a:rPr sz="2250" b="1">
                <a:solidFill>
                  <a:srgbClr val="171715"/>
                </a:solidFill>
                <a:latin typeface="微软雅黑" panose="020B0503020204020204" charset="-122"/>
                <a:ea typeface="微软雅黑" panose="020B0503020204020204" charset="-122"/>
                <a:cs typeface="微软雅黑" panose="020B0503020204020204" charset="-122"/>
              </a:rPr>
              <a:t>文本历史 |H|：3、9、15</a:t>
            </a:r>
            <a:endParaRPr sz="2250" b="1">
              <a:solidFill>
                <a:srgbClr val="171715"/>
              </a:solidFill>
              <a:latin typeface="微软雅黑" panose="020B0503020204020204" charset="-122"/>
              <a:ea typeface="微软雅黑" panose="020B0503020204020204" charset="-122"/>
              <a:cs typeface="微软雅黑" panose="020B0503020204020204" charset="-122"/>
            </a:endParaRPr>
          </a:p>
          <a:p>
            <a:pPr>
              <a:defRPr sz="2250" b="1">
                <a:solidFill>
                  <a:srgbClr val="171715"/>
                </a:solidFill>
                <a:latin typeface="微软雅黑" panose="020B0503020204020204" charset="-122"/>
                <a:ea typeface="微软雅黑" panose="020B0503020204020204" charset="-122"/>
                <a:cs typeface="微软雅黑" panose="020B0503020204020204" charset="-122"/>
              </a:defRPr>
            </a:pPr>
            <a:r>
              <a:rPr sz="2250" b="1">
                <a:solidFill>
                  <a:srgbClr val="171715"/>
                </a:solidFill>
                <a:latin typeface="微软雅黑" panose="020B0503020204020204" charset="-122"/>
                <a:ea typeface="微软雅黑" panose="020B0503020204020204" charset="-122"/>
                <a:cs typeface="微软雅黑" panose="020B0503020204020204" charset="-122"/>
              </a:rPr>
              <a:t>所测传播趋势变化不大</a:t>
            </a:r>
            <a:endParaRPr sz="2250"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09625" y="3600450"/>
            <a:ext cx="4762500" cy="171450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M：构造攻击图像时使用的聊天样本数</a:t>
            </a:r>
            <a:endParaRPr sz="1875" b="0">
              <a:solidFill>
                <a:srgbClr val="171715"/>
              </a:solidFill>
              <a:latin typeface="微软雅黑" panose="020B0503020204020204" charset="-122"/>
              <a:ea typeface="微软雅黑" panose="020B0503020204020204" charset="-122"/>
              <a:cs typeface="微软雅黑" panose="020B0503020204020204" charset="-122"/>
            </a:endParaRPr>
          </a:p>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较大的 M 通常提高攻击效果</a:t>
            </a:r>
            <a:endParaRPr sz="1875" b="0">
              <a:solidFill>
                <a:srgbClr val="171715"/>
              </a:solidFill>
              <a:latin typeface="微软雅黑" panose="020B0503020204020204" charset="-122"/>
              <a:ea typeface="微软雅黑" panose="020B0503020204020204" charset="-122"/>
              <a:cs typeface="微软雅黑" panose="020B0503020204020204" charset="-122"/>
            </a:endParaRPr>
          </a:p>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有限样本也可能产生明显感染</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pic>
        <p:nvPicPr>
          <p:cNvPr id="20" name="图片 19"/>
          <p:cNvPicPr>
            <a:picLocks noChangeAspect="1"/>
          </p:cNvPicPr>
          <p:nvPr/>
        </p:nvPicPr>
        <p:blipFill>
          <a:blip r:embed="rId2"/>
          <a:stretch>
            <a:fillRect/>
          </a:stretch>
        </p:blipFill>
        <p:spPr>
          <a:xfrm>
            <a:off x="5905500" y="1625759"/>
            <a:ext cx="5524500" cy="37969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2" name="图片 11"/>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普通图像处理能否阻止攻击</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7 · Figure 6 左</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15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§4.4，Common corruptions；Figure 6 左，Border h=16</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2"/>
          <a:stretch>
            <a:fillRect/>
          </a:stretch>
        </p:blipFill>
        <p:spPr>
          <a:xfrm>
            <a:off x="854710" y="1466850"/>
            <a:ext cx="6101081" cy="4191000"/>
          </a:xfrm>
          <a:prstGeom prst="rect">
            <a:avLst/>
          </a:prstGeom>
        </p:spPr>
      </p:pic>
      <p:sp>
        <p:nvSpPr>
          <p:cNvPr id="9" name="矩形 8"/>
          <p:cNvSpPr>
            <a:spLocks noGrp="1"/>
          </p:cNvSpPr>
          <p:nvPr/>
        </p:nvSpPr>
        <p:spPr>
          <a:xfrm>
            <a:off x="7477125" y="1714500"/>
            <a:ext cx="4048125" cy="1047750"/>
          </a:xfrm>
          <a:prstGeom prst="rect">
            <a:avLst/>
          </a:prstGeom>
          <a:noFill/>
          <a:ln w="0">
            <a:noFill/>
          </a:ln>
        </p:spPr>
        <p:txBody>
          <a:bodyPr lIns="0" tIns="0" rIns="0" bIns="0">
            <a:noAutofit/>
          </a:bodyPr>
          <a:lstStyle/>
          <a:p>
            <a:pPr>
              <a:defRPr sz="2025" b="1">
                <a:solidFill>
                  <a:srgbClr val="171715"/>
                </a:solidFill>
                <a:latin typeface="微软雅黑" panose="020B0503020204020204" charset="-122"/>
                <a:ea typeface="微软雅黑" panose="020B0503020204020204" charset="-122"/>
                <a:cs typeface="微软雅黑" panose="020B0503020204020204" charset="-122"/>
              </a:defRPr>
            </a:pPr>
            <a:r>
              <a:rPr sz="2025" b="1">
                <a:solidFill>
                  <a:srgbClr val="171715"/>
                </a:solidFill>
                <a:latin typeface="微软雅黑" panose="020B0503020204020204" charset="-122"/>
                <a:ea typeface="微软雅黑" panose="020B0503020204020204" charset="-122"/>
                <a:cs typeface="微软雅黑" panose="020B0503020204020204" charset="-122"/>
              </a:rPr>
              <a:t>测试变换</a:t>
            </a:r>
            <a:endParaRPr sz="2025" b="1">
              <a:solidFill>
                <a:srgbClr val="171715"/>
              </a:solidFill>
              <a:latin typeface="微软雅黑" panose="020B0503020204020204" charset="-122"/>
              <a:ea typeface="微软雅黑" panose="020B0503020204020204" charset="-122"/>
              <a:cs typeface="微软雅黑" panose="020B0503020204020204" charset="-122"/>
            </a:endParaRPr>
          </a:p>
          <a:p>
            <a:pPr>
              <a:defRPr sz="2025" b="1">
                <a:solidFill>
                  <a:srgbClr val="171715"/>
                </a:solidFill>
                <a:latin typeface="微软雅黑" panose="020B0503020204020204" charset="-122"/>
                <a:ea typeface="微软雅黑" panose="020B0503020204020204" charset="-122"/>
                <a:cs typeface="微软雅黑" panose="020B0503020204020204" charset="-122"/>
              </a:defRPr>
            </a:pPr>
            <a:r>
              <a:rPr sz="2025" b="1">
                <a:solidFill>
                  <a:srgbClr val="171715"/>
                </a:solidFill>
                <a:latin typeface="微软雅黑" panose="020B0503020204020204" charset="-122"/>
                <a:ea typeface="微软雅黑" panose="020B0503020204020204" charset="-122"/>
                <a:cs typeface="微软雅黑" panose="020B0503020204020204" charset="-122"/>
              </a:rPr>
              <a:t>翻转、缩放、JPEG 压缩</a:t>
            </a:r>
            <a:endParaRPr sz="202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477125" y="3295650"/>
            <a:ext cx="4048125" cy="11430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攻击构造阶段已考虑这些变换</a:t>
            </a:r>
            <a:endParaRPr sz="1950" b="0">
              <a:solidFill>
                <a:srgbClr val="171715"/>
              </a:solidFill>
              <a:latin typeface="微软雅黑" panose="020B0503020204020204" charset="-122"/>
              <a:ea typeface="微软雅黑" panose="020B0503020204020204" charset="-122"/>
              <a:cs typeface="微软雅黑" panose="020B0503020204020204" charset="-122"/>
            </a:endParaRPr>
          </a:p>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并使用较大扰动预算</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477125" y="4857750"/>
            <a:ext cx="4048125" cy="809625"/>
          </a:xfrm>
          <a:prstGeom prst="rect">
            <a:avLst/>
          </a:prstGeom>
          <a:noFill/>
          <a:ln w="0">
            <a:noFill/>
          </a:ln>
        </p:spPr>
        <p:txBody>
          <a:bodyPr lIns="0" tIns="0" rIns="0" bIns="0">
            <a:noAutofit/>
          </a:bodyPr>
          <a:lstStyle/>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结论限于这些变换</a:t>
            </a:r>
            <a:endParaRPr sz="1875" b="1">
              <a:solidFill>
                <a:srgbClr val="171715"/>
              </a:solidFill>
              <a:latin typeface="微软雅黑" panose="020B0503020204020204" charset="-122"/>
              <a:ea typeface="微软雅黑" panose="020B0503020204020204" charset="-122"/>
              <a:cs typeface="微软雅黑" panose="020B0503020204020204" charset="-122"/>
            </a:endParaRPr>
          </a:p>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与适配攻击的实验设置</a:t>
            </a:r>
            <a:endParaRPr sz="1875"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1" name="图片 10"/>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换模型与异构系统</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8 · Figure 7</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16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§4.5–4.6；Figure 7；异构攻击基于两种模型共同构造</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pic>
        <p:nvPicPr>
          <p:cNvPr id="18" name="图片 17"/>
          <p:cNvPicPr>
            <a:picLocks noChangeAspect="1"/>
          </p:cNvPicPr>
          <p:nvPr/>
        </p:nvPicPr>
        <p:blipFill>
          <a:blip r:embed="rId2"/>
          <a:stretch>
            <a:fillRect/>
          </a:stretch>
        </p:blipFill>
        <p:spPr>
          <a:xfrm>
            <a:off x="714375" y="1689480"/>
            <a:ext cx="10763250" cy="2526539"/>
          </a:xfrm>
          <a:prstGeom prst="rect">
            <a:avLst/>
          </a:prstGeom>
        </p:spPr>
      </p:pic>
      <p:sp>
        <p:nvSpPr>
          <p:cNvPr id="9" name="矩形 8"/>
          <p:cNvSpPr>
            <a:spLocks noGrp="1"/>
          </p:cNvSpPr>
          <p:nvPr/>
        </p:nvSpPr>
        <p:spPr>
          <a:xfrm>
            <a:off x="809625" y="4619625"/>
            <a:ext cx="10572750" cy="428625"/>
          </a:xfrm>
          <a:prstGeom prst="rect">
            <a:avLst/>
          </a:prstGeom>
          <a:noFill/>
          <a:ln w="0">
            <a:noFill/>
          </a:ln>
        </p:spPr>
        <p:txBody>
          <a:bodyPr lIns="0" tIns="0" rIns="0" bIns="0">
            <a:noAutofit/>
          </a:bodyPr>
          <a:lstStyle/>
          <a:p>
            <a:pPr>
              <a:defRPr sz="1800" b="0">
                <a:solidFill>
                  <a:srgbClr val="171715"/>
                </a:solidFill>
                <a:latin typeface="微软雅黑" panose="020B0503020204020204" charset="-122"/>
                <a:ea typeface="微软雅黑" panose="020B0503020204020204" charset="-122"/>
                <a:cs typeface="微软雅黑" panose="020B0503020204020204" charset="-122"/>
              </a:defRPr>
            </a:pPr>
            <a:r>
              <a:rPr sz="1800" b="0">
                <a:solidFill>
                  <a:srgbClr val="171715"/>
                </a:solidFill>
                <a:latin typeface="微软雅黑" panose="020B0503020204020204" charset="-122"/>
                <a:ea typeface="微软雅黑" panose="020B0503020204020204" charset="-122"/>
                <a:cs typeface="微软雅黑" panose="020B0503020204020204" charset="-122"/>
              </a:rPr>
              <a:t>左：InstructBLIP 系统　　中 / 右：50% InstructBLIP ＋ 50% LLaVA</a:t>
            </a:r>
            <a:endParaRPr sz="180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19150" y="5295900"/>
            <a:ext cx="10477500" cy="457200"/>
          </a:xfrm>
          <a:prstGeom prst="rect">
            <a:avLst/>
          </a:prstGeom>
          <a:noFill/>
          <a:ln w="0">
            <a:noFill/>
          </a:ln>
        </p:spPr>
        <p:txBody>
          <a:bodyPr lIns="0" tIns="0" rIns="0" bIns="0">
            <a:noAutofit/>
          </a:bodyPr>
          <a:lstStyle/>
          <a:p>
            <a:pPr>
              <a:defRPr sz="2100" b="1">
                <a:solidFill>
                  <a:srgbClr val="171715"/>
                </a:solidFill>
                <a:latin typeface="微软雅黑" panose="020B0503020204020204" charset="-122"/>
                <a:ea typeface="微软雅黑" panose="020B0503020204020204" charset="-122"/>
                <a:cs typeface="微软雅黑" panose="020B0503020204020204" charset="-122"/>
              </a:defRPr>
            </a:pPr>
            <a:r>
              <a:rPr sz="2100" b="1">
                <a:solidFill>
                  <a:srgbClr val="171715"/>
                </a:solidFill>
                <a:latin typeface="微软雅黑" panose="020B0503020204020204" charset="-122"/>
                <a:ea typeface="微软雅黑" panose="020B0503020204020204" charset="-122"/>
                <a:cs typeface="微软雅黑" panose="020B0503020204020204" charset="-122"/>
              </a:rPr>
              <a:t>异构攻击图像针对两种模型</a:t>
            </a:r>
            <a:r>
              <a:rPr lang="zh-CN" sz="2100" b="1">
                <a:solidFill>
                  <a:srgbClr val="171715"/>
                </a:solidFill>
                <a:latin typeface="微软雅黑" panose="020B0503020204020204" charset="-122"/>
                <a:ea typeface="微软雅黑" panose="020B0503020204020204" charset="-122"/>
                <a:cs typeface="微软雅黑" panose="020B0503020204020204" charset="-122"/>
              </a:rPr>
              <a:t>共同</a:t>
            </a:r>
            <a:r>
              <a:rPr sz="2100" b="1">
                <a:solidFill>
                  <a:srgbClr val="171715"/>
                </a:solidFill>
                <a:latin typeface="微软雅黑" panose="020B0503020204020204" charset="-122"/>
                <a:ea typeface="微软雅黑" panose="020B0503020204020204" charset="-122"/>
                <a:cs typeface="微软雅黑" panose="020B0503020204020204" charset="-122"/>
              </a:rPr>
              <a:t>构造</a:t>
            </a:r>
            <a:endParaRPr sz="2100"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2" name="图片 11"/>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工具调用风险的概念验证</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实验 9 · Figure 8 左</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17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§4.7，Figure 8；图示函数为占位函数</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pic>
        <p:nvPicPr>
          <p:cNvPr id="19" name="图片 18"/>
          <p:cNvPicPr>
            <a:picLocks noChangeAspect="1"/>
          </p:cNvPicPr>
          <p:nvPr/>
        </p:nvPicPr>
        <p:blipFill>
          <a:blip r:embed="rId2"/>
          <a:stretch>
            <a:fillRect/>
          </a:stretch>
        </p:blipFill>
        <p:spPr>
          <a:xfrm>
            <a:off x="842600" y="1504950"/>
            <a:ext cx="6030050" cy="4143375"/>
          </a:xfrm>
          <a:prstGeom prst="rect">
            <a:avLst/>
          </a:prstGeom>
        </p:spPr>
      </p:pic>
      <p:sp>
        <p:nvSpPr>
          <p:cNvPr id="9" name="矩形 8"/>
          <p:cNvSpPr>
            <a:spLocks noGrp="1"/>
          </p:cNvSpPr>
          <p:nvPr/>
        </p:nvSpPr>
        <p:spPr>
          <a:xfrm>
            <a:off x="7381875" y="1781175"/>
            <a:ext cx="4048125" cy="1238250"/>
          </a:xfrm>
          <a:prstGeom prst="rect">
            <a:avLst/>
          </a:prstGeom>
          <a:noFill/>
          <a:ln w="0">
            <a:noFill/>
          </a:ln>
        </p:spPr>
        <p:txBody>
          <a:bodyPr lIns="0" tIns="0" rIns="0" bIns="0">
            <a:noAutofit/>
          </a:bodyPr>
          <a:lstStyle/>
          <a:p>
            <a:pPr>
              <a:defRPr sz="1950" b="1">
                <a:solidFill>
                  <a:srgbClr val="171715"/>
                </a:solidFill>
                <a:latin typeface="微软雅黑" panose="020B0503020204020204" charset="-122"/>
                <a:ea typeface="微软雅黑" panose="020B0503020204020204" charset="-122"/>
                <a:cs typeface="微软雅黑" panose="020B0503020204020204" charset="-122"/>
              </a:defRPr>
            </a:pPr>
            <a:r>
              <a:rPr sz="1950" b="1">
                <a:solidFill>
                  <a:srgbClr val="171715"/>
                </a:solidFill>
                <a:latin typeface="微软雅黑" panose="020B0503020204020204" charset="-122"/>
                <a:ea typeface="微软雅黑" panose="020B0503020204020204" charset="-122"/>
                <a:cs typeface="微软雅黑" panose="020B0503020204020204" charset="-122"/>
              </a:rPr>
              <a:t>目标：生成有害调用 JSON</a:t>
            </a:r>
            <a:endParaRPr sz="1950" b="1">
              <a:solidFill>
                <a:srgbClr val="171715"/>
              </a:solidFill>
              <a:latin typeface="微软雅黑" panose="020B0503020204020204" charset="-122"/>
              <a:ea typeface="微软雅黑" panose="020B0503020204020204" charset="-122"/>
              <a:cs typeface="微软雅黑" panose="020B0503020204020204" charset="-122"/>
            </a:endParaRPr>
          </a:p>
          <a:p>
            <a:pPr>
              <a:defRPr sz="1950" b="1">
                <a:solidFill>
                  <a:srgbClr val="171715"/>
                </a:solidFill>
                <a:latin typeface="微软雅黑" panose="020B0503020204020204" charset="-122"/>
                <a:ea typeface="微软雅黑" panose="020B0503020204020204" charset="-122"/>
                <a:cs typeface="微软雅黑" panose="020B0503020204020204" charset="-122"/>
              </a:defRPr>
            </a:pPr>
            <a:r>
              <a:rPr sz="1950" b="1">
                <a:solidFill>
                  <a:srgbClr val="171715"/>
                </a:solidFill>
                <a:latin typeface="微软雅黑" panose="020B0503020204020204" charset="-122"/>
                <a:ea typeface="微软雅黑" panose="020B0503020204020204" charset="-122"/>
                <a:cs typeface="微软雅黑" panose="020B0503020204020204" charset="-122"/>
              </a:rPr>
              <a:t>观察：24轮前几乎全部输出目标</a:t>
            </a:r>
            <a:endParaRPr sz="1950"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381875" y="3486150"/>
            <a:ext cx="4048125" cy="1190625"/>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实际证据：目标字符串生成</a:t>
            </a:r>
            <a:endParaRPr sz="1875" b="0">
              <a:solidFill>
                <a:srgbClr val="171715"/>
              </a:solidFill>
              <a:latin typeface="微软雅黑" panose="020B0503020204020204" charset="-122"/>
              <a:ea typeface="微软雅黑" panose="020B0503020204020204" charset="-122"/>
              <a:cs typeface="微软雅黑" panose="020B0503020204020204" charset="-122"/>
            </a:endParaRPr>
          </a:p>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外部后果取决于权限与执行链</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7381875" y="5143500"/>
            <a:ext cx="4048125" cy="571500"/>
          </a:xfrm>
          <a:prstGeom prst="rect">
            <a:avLst/>
          </a:prstGeom>
          <a:noFill/>
          <a:ln w="0">
            <a:noFill/>
          </a:ln>
        </p:spPr>
        <p:txBody>
          <a:bodyPr lIns="0" tIns="0" rIns="0" bIns="0">
            <a:noAutofit/>
          </a:bodyPr>
          <a:lstStyle/>
          <a:p>
            <a:pPr>
              <a:defRPr sz="1800" b="1">
                <a:solidFill>
                  <a:srgbClr val="171715"/>
                </a:solidFill>
                <a:latin typeface="微软雅黑" panose="020B0503020204020204" charset="-122"/>
                <a:ea typeface="微软雅黑" panose="020B0503020204020204" charset="-122"/>
                <a:cs typeface="微软雅黑" panose="020B0503020204020204" charset="-122"/>
              </a:defRPr>
            </a:pPr>
            <a:r>
              <a:rPr sz="1800" b="1">
                <a:solidFill>
                  <a:srgbClr val="171715"/>
                </a:solidFill>
                <a:latin typeface="微软雅黑" panose="020B0503020204020204" charset="-122"/>
                <a:ea typeface="微软雅黑" panose="020B0503020204020204" charset="-122"/>
                <a:cs typeface="微软雅黑" panose="020B0503020204020204" charset="-122"/>
              </a:rPr>
              <a:t>未验证真实生产工具的破坏执行</a:t>
            </a:r>
            <a:endParaRPr sz="1800"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3" name="图片 12"/>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实验结论的适用边界</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论文评价</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18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依据§3–4与附录E.1整理；本页为实验边界分析</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28675" y="1524000"/>
            <a:ext cx="10572750" cy="6858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随机两两聊天，图像接收后自动写入相册</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28675" y="2324100"/>
            <a:ext cx="10572750" cy="6858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默认模型、图像模态与检索机制较具体</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28675" y="3124200"/>
            <a:ext cx="10572750" cy="6858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百万实验有 1,024 个初始携带者，仅报告一个目标</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28675" y="3924300"/>
            <a:ext cx="10572750" cy="6858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精确字符串匹配，不能覆盖全部语义有害行为</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28675" y="4724400"/>
            <a:ext cx="10572750" cy="6858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异构与预处理结果来自经过适配的攻击</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3" name="图片 12"/>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对多 Agent 防护的启发</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研究分析</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19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作者结论：§3.1 Remark II与§5；具体防护建议为汇报者分析</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28675" y="1562100"/>
            <a:ext cx="10572750" cy="619125"/>
          </a:xfrm>
          <a:prstGeom prst="rect">
            <a:avLst/>
          </a:prstGeom>
          <a:noFill/>
          <a:ln w="0">
            <a:noFill/>
          </a:ln>
        </p:spPr>
        <p:txBody>
          <a:bodyPr lIns="0" tIns="0" rIns="0" bIns="0">
            <a:noAutofit/>
          </a:bodyPr>
          <a:lstStyle/>
          <a:p>
            <a:pPr>
              <a:defRPr sz="2625" b="1">
                <a:solidFill>
                  <a:srgbClr val="171715"/>
                </a:solidFill>
                <a:latin typeface="微软雅黑" panose="020B0503020204020204" charset="-122"/>
                <a:ea typeface="微软雅黑" panose="020B0503020204020204" charset="-122"/>
                <a:cs typeface="微软雅黑" panose="020B0503020204020204" charset="-122"/>
              </a:defRPr>
            </a:pPr>
            <a:r>
              <a:rPr sz="2625" b="1">
                <a:solidFill>
                  <a:srgbClr val="171715"/>
                </a:solidFill>
                <a:latin typeface="微软雅黑" panose="020B0503020204020204" charset="-122"/>
                <a:ea typeface="微软雅黑" panose="020B0503020204020204" charset="-122"/>
                <a:cs typeface="微软雅黑" panose="020B0503020204020204" charset="-122"/>
              </a:rPr>
              <a:t>论文结论：在其模型内，使 β ≤ 2γ</a:t>
            </a:r>
            <a:endParaRPr sz="2625"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28675" y="2581275"/>
            <a:ext cx="10572750" cy="523875"/>
          </a:xfrm>
          <a:prstGeom prst="rect">
            <a:avLst/>
          </a:prstGeom>
          <a:noFill/>
          <a:ln w="0">
            <a:noFill/>
          </a:ln>
        </p:spPr>
        <p:txBody>
          <a:bodyPr lIns="0" tIns="0" rIns="0" bIns="0">
            <a:noAutofit/>
          </a:bodyPr>
          <a:lstStyle/>
          <a:p>
            <a:pPr>
              <a:defRPr sz="2100" b="1">
                <a:solidFill>
                  <a:srgbClr val="171715"/>
                </a:solidFill>
                <a:latin typeface="微软雅黑" panose="020B0503020204020204" charset="-122"/>
                <a:ea typeface="微软雅黑" panose="020B0503020204020204" charset="-122"/>
                <a:cs typeface="微软雅黑" panose="020B0503020204020204" charset="-122"/>
              </a:defRPr>
            </a:pPr>
            <a:r>
              <a:rPr sz="2100" b="1">
                <a:solidFill>
                  <a:srgbClr val="171715"/>
                </a:solidFill>
                <a:latin typeface="微软雅黑" panose="020B0503020204020204" charset="-122"/>
                <a:ea typeface="微软雅黑" panose="020B0503020204020204" charset="-122"/>
                <a:cs typeface="微软雅黑" panose="020B0503020204020204" charset="-122"/>
              </a:rPr>
              <a:t>我的分析：哪些机制可以改变传播与恢复？</a:t>
            </a:r>
            <a:endParaRPr sz="2100" b="1">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38200" y="3371850"/>
            <a:ext cx="10477500" cy="7239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降低 β：检查转发内容、控制外来内容写入记忆</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38200" y="4210050"/>
            <a:ext cx="10477500" cy="7239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提高 γ：识别并清除攻击载体，验证恢复是否持续</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38200" y="5048250"/>
            <a:ext cx="10477500" cy="723900"/>
          </a:xfrm>
          <a:prstGeom prst="rect">
            <a:avLst/>
          </a:prstGeom>
          <a:noFill/>
          <a:ln w="0">
            <a:noFill/>
          </a:ln>
        </p:spPr>
        <p:txBody>
          <a:bodyPr lIns="0" tIns="0" rIns="0" bIns="0">
            <a:noAutofit/>
          </a:bodyPr>
          <a:lstStyle/>
          <a:p>
            <a:pPr>
              <a:defRPr sz="1950" b="0">
                <a:solidFill>
                  <a:srgbClr val="171715"/>
                </a:solidFill>
                <a:latin typeface="微软雅黑" panose="020B0503020204020204" charset="-122"/>
                <a:ea typeface="微软雅黑" panose="020B0503020204020204" charset="-122"/>
                <a:cs typeface="微软雅黑" panose="020B0503020204020204" charset="-122"/>
              </a:defRPr>
            </a:pPr>
            <a:r>
              <a:rPr sz="1950" b="0">
                <a:solidFill>
                  <a:srgbClr val="171715"/>
                </a:solidFill>
                <a:latin typeface="微软雅黑" panose="020B0503020204020204" charset="-122"/>
                <a:ea typeface="微软雅黑" panose="020B0503020204020204" charset="-122"/>
                <a:cs typeface="微软雅黑" panose="020B0503020204020204" charset="-122"/>
              </a:rPr>
              <a:t>评估代价：正常任务完成率、误拦截、延迟与调用成本</a:t>
            </a:r>
            <a:endParaRPr sz="1950"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2" name="图片 11"/>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本文贡献与汇报结论</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结论</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20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§1、§3–5；最后的评估建议为汇报者分析</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38200" y="1695450"/>
            <a:ext cx="10572750" cy="1047750"/>
          </a:xfrm>
          <a:prstGeom prst="rect">
            <a:avLst/>
          </a:prstGeom>
          <a:noFill/>
          <a:ln w="0">
            <a:noFill/>
          </a:ln>
        </p:spPr>
        <p:txBody>
          <a:bodyPr lIns="0" tIns="0" rIns="0" bIns="0">
            <a:noAutofit/>
          </a:bodyPr>
          <a:lstStyle/>
          <a:p>
            <a:pPr>
              <a:defRPr sz="2250" b="0">
                <a:solidFill>
                  <a:srgbClr val="171715"/>
                </a:solidFill>
                <a:latin typeface="微软雅黑" panose="020B0503020204020204" charset="-122"/>
                <a:ea typeface="微软雅黑" panose="020B0503020204020204" charset="-122"/>
                <a:cs typeface="微软雅黑" panose="020B0503020204020204" charset="-122"/>
              </a:defRPr>
            </a:pPr>
            <a:r>
              <a:rPr sz="2250" b="0">
                <a:solidFill>
                  <a:srgbClr val="171715"/>
                </a:solidFill>
                <a:latin typeface="微软雅黑" panose="020B0503020204020204" charset="-122"/>
                <a:ea typeface="微软雅黑" panose="020B0503020204020204" charset="-122"/>
                <a:cs typeface="微软雅黑" panose="020B0503020204020204" charset="-122"/>
              </a:rPr>
              <a:t>提出传染性越狱，研究交互与记忆造成的风险放大</a:t>
            </a:r>
            <a:endParaRPr sz="22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38200" y="2857500"/>
            <a:ext cx="10572750" cy="1047750"/>
          </a:xfrm>
          <a:prstGeom prst="rect">
            <a:avLst/>
          </a:prstGeom>
          <a:noFill/>
          <a:ln w="0">
            <a:noFill/>
          </a:ln>
        </p:spPr>
        <p:txBody>
          <a:bodyPr lIns="0" tIns="0" rIns="0" bIns="0">
            <a:noAutofit/>
          </a:bodyPr>
          <a:lstStyle/>
          <a:p>
            <a:pPr>
              <a:defRPr sz="2250" b="0">
                <a:solidFill>
                  <a:srgbClr val="171715"/>
                </a:solidFill>
                <a:latin typeface="微软雅黑" panose="020B0503020204020204" charset="-122"/>
                <a:ea typeface="微软雅黑" panose="020B0503020204020204" charset="-122"/>
                <a:cs typeface="微软雅黑" panose="020B0503020204020204" charset="-122"/>
              </a:defRPr>
            </a:pPr>
            <a:r>
              <a:rPr sz="2250" b="0">
                <a:solidFill>
                  <a:srgbClr val="171715"/>
                </a:solidFill>
                <a:latin typeface="微软雅黑" panose="020B0503020204020204" charset="-122"/>
                <a:ea typeface="微软雅黑" panose="020B0503020204020204" charset="-122"/>
                <a:cs typeface="微软雅黑" panose="020B0503020204020204" charset="-122"/>
              </a:rPr>
              <a:t>建立传播模型，并在受控多模态系统中验证</a:t>
            </a:r>
            <a:endParaRPr sz="22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38200" y="4019550"/>
            <a:ext cx="10572750" cy="1047750"/>
          </a:xfrm>
          <a:prstGeom prst="rect">
            <a:avLst/>
          </a:prstGeom>
          <a:noFill/>
          <a:ln w="0">
            <a:noFill/>
          </a:ln>
        </p:spPr>
        <p:txBody>
          <a:bodyPr lIns="0" tIns="0" rIns="0" bIns="0">
            <a:noAutofit/>
          </a:bodyPr>
          <a:lstStyle/>
          <a:p>
            <a:pPr>
              <a:defRPr sz="2250" b="0">
                <a:solidFill>
                  <a:srgbClr val="171715"/>
                </a:solidFill>
                <a:latin typeface="微软雅黑" panose="020B0503020204020204" charset="-122"/>
                <a:ea typeface="微软雅黑" panose="020B0503020204020204" charset="-122"/>
                <a:cs typeface="微软雅黑" panose="020B0503020204020204" charset="-122"/>
              </a:defRPr>
            </a:pPr>
            <a:r>
              <a:rPr sz="2250" b="0">
                <a:solidFill>
                  <a:srgbClr val="171715"/>
                </a:solidFill>
                <a:latin typeface="微软雅黑" panose="020B0503020204020204" charset="-122"/>
                <a:ea typeface="微软雅黑" panose="020B0503020204020204" charset="-122"/>
                <a:cs typeface="微软雅黑" panose="020B0503020204020204" charset="-122"/>
              </a:rPr>
              <a:t>给出防护条件，实际防护机制仍需设计与评估</a:t>
            </a:r>
            <a:endParaRPr sz="2250"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19150" y="5334000"/>
            <a:ext cx="10477500" cy="571500"/>
          </a:xfrm>
          <a:prstGeom prst="rect">
            <a:avLst/>
          </a:prstGeom>
          <a:noFill/>
          <a:ln w="0">
            <a:noFill/>
          </a:ln>
        </p:spPr>
        <p:txBody>
          <a:bodyPr lIns="0" tIns="0" rIns="0" bIns="0">
            <a:noAutofit/>
          </a:bodyPr>
          <a:lstStyle/>
          <a:p>
            <a:pPr>
              <a:defRPr sz="1875" b="1">
                <a:solidFill>
                  <a:srgbClr val="171715"/>
                </a:solidFill>
                <a:latin typeface="微软雅黑" panose="020B0503020204020204" charset="-122"/>
                <a:ea typeface="微软雅黑" panose="020B0503020204020204" charset="-122"/>
                <a:cs typeface="微软雅黑" panose="020B0503020204020204" charset="-122"/>
              </a:defRPr>
            </a:pPr>
            <a:r>
              <a:rPr sz="1875" b="1">
                <a:solidFill>
                  <a:srgbClr val="171715"/>
                </a:solidFill>
                <a:latin typeface="微软雅黑" panose="020B0503020204020204" charset="-122"/>
                <a:ea typeface="微软雅黑" panose="020B0503020204020204" charset="-122"/>
                <a:cs typeface="微软雅黑" panose="020B0503020204020204" charset="-122"/>
              </a:rPr>
              <a:t>安全评估需区分：载体传播、有害行为、工具执行</a:t>
            </a:r>
            <a:endParaRPr sz="1875" b="1">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1E9"/>
        </a:solidFill>
        <a:effectLst/>
      </p:bgPr>
    </p:bg>
    <p:spTree>
      <p:nvGrpSpPr>
        <p:cNvPr id="1" name=""/>
        <p:cNvGrpSpPr/>
        <p:nvPr/>
      </p:nvGrpSpPr>
      <p:grpSpPr/>
      <p:pic>
        <p:nvPicPr>
          <p:cNvPr id="13" name="图片 12"/>
          <p:cNvPicPr>
            <a:picLocks noChangeAspect="1"/>
          </p:cNvPicPr>
          <p:nvPr/>
        </p:nvPicPr>
        <p:blipFill>
          <a:blip r:embed="rId1"/>
          <a:stretch>
            <a:fillRect/>
          </a:stretch>
        </p:blipFill>
        <p:spPr>
          <a:xfrm>
            <a:off x="549039" y="390525"/>
            <a:ext cx="892647" cy="904875"/>
          </a:xfrm>
          <a:prstGeom prst="rect">
            <a:avLst/>
          </a:prstGeom>
        </p:spPr>
      </p:pic>
      <p:sp>
        <p:nvSpPr>
          <p:cNvPr id="2" name="矩形 1"/>
          <p:cNvSpPr>
            <a:spLocks noGrp="1"/>
          </p:cNvSpPr>
          <p:nvPr/>
        </p:nvSpPr>
        <p:spPr>
          <a:xfrm>
            <a:off x="819150" y="581025"/>
            <a:ext cx="10572750" cy="704850"/>
          </a:xfrm>
          <a:prstGeom prst="rect">
            <a:avLst/>
          </a:prstGeom>
          <a:noFill/>
          <a:ln w="0">
            <a:noFill/>
          </a:ln>
        </p:spPr>
        <p:txBody>
          <a:bodyPr lIns="0" tIns="0" rIns="0" bIns="0">
            <a:noAutofit/>
          </a:bodyPr>
          <a:lstStyle/>
          <a:p>
            <a:pPr>
              <a:defRPr sz="2700" b="1">
                <a:solidFill>
                  <a:srgbClr val="171715"/>
                </a:solidFill>
                <a:latin typeface="宋体" panose="02010600030101010101" pitchFamily="2" charset="-122"/>
                <a:ea typeface="宋体" panose="02010600030101010101" pitchFamily="2" charset="-122"/>
                <a:cs typeface="宋体" panose="02010600030101010101" pitchFamily="2" charset="-122"/>
              </a:defRPr>
            </a:pPr>
            <a:r>
              <a:rPr sz="2700" b="1">
                <a:solidFill>
                  <a:srgbClr val="171715"/>
                </a:solidFill>
                <a:latin typeface="宋体" panose="02010600030101010101" pitchFamily="2" charset="-122"/>
                <a:ea typeface="宋体" panose="02010600030101010101" pitchFamily="2" charset="-122"/>
                <a:cs typeface="宋体" panose="02010600030101010101" pitchFamily="2" charset="-122"/>
              </a:rPr>
              <a:t>参考资料与图表出处</a:t>
            </a:r>
            <a:endParaRPr sz="2700" b="1">
              <a:solidFill>
                <a:srgbClr val="171715"/>
              </a:solidFill>
              <a:latin typeface="宋体" panose="02010600030101010101" pitchFamily="2" charset="-122"/>
              <a:ea typeface="宋体" panose="02010600030101010101" pitchFamily="2" charset="-122"/>
              <a:cs typeface="宋体" panose="02010600030101010101" pitchFamily="2" charset="-122"/>
            </a:endParaRPr>
          </a:p>
        </p:txBody>
      </p:sp>
      <p:sp>
        <p:nvSpPr>
          <p:cNvPr id="3" name="直接连接符 2"/>
          <p:cNvSpPr>
            <a:spLocks noGrp="1"/>
          </p:cNvSpPr>
          <p:nvPr/>
        </p:nvSpPr>
        <p:spPr>
          <a:xfrm>
            <a:off x="552450" y="257175"/>
            <a:ext cx="11068050" cy="0"/>
          </a:xfrm>
          <a:prstGeom prst="line">
            <a:avLst/>
          </a:prstGeom>
          <a:ln w="7620">
            <a:solidFill>
              <a:srgbClr val="77776D"/>
            </a:solidFill>
          </a:ln>
        </p:spPr>
      </p:sp>
      <p:sp>
        <p:nvSpPr>
          <p:cNvPr id="4" name="直接连接符 3"/>
          <p:cNvSpPr>
            <a:spLocks noGrp="1"/>
          </p:cNvSpPr>
          <p:nvPr/>
        </p:nvSpPr>
        <p:spPr>
          <a:xfrm>
            <a:off x="552450" y="6315075"/>
            <a:ext cx="11068050" cy="0"/>
          </a:xfrm>
          <a:prstGeom prst="line">
            <a:avLst/>
          </a:prstGeom>
          <a:ln w="7620">
            <a:solidFill>
              <a:srgbClr val="77776D"/>
            </a:solidFill>
          </a:ln>
        </p:spPr>
      </p:sp>
      <p:sp>
        <p:nvSpPr>
          <p:cNvPr id="5" name="矩形 4"/>
          <p:cNvSpPr>
            <a:spLocks noGrp="1"/>
          </p:cNvSpPr>
          <p:nvPr/>
        </p:nvSpPr>
        <p:spPr>
          <a:xfrm>
            <a:off x="619125" y="6486525"/>
            <a:ext cx="4762500" cy="190500"/>
          </a:xfrm>
          <a:prstGeom prst="rect">
            <a:avLst/>
          </a:prstGeom>
          <a:noFill/>
          <a:ln w="0">
            <a:noFill/>
          </a:ln>
        </p:spPr>
        <p:txBody>
          <a:bodyPr lIns="0" tIns="0" rIns="0" bIns="0">
            <a:noAutofit/>
          </a:bodyPr>
          <a:lstStyle/>
          <a:p>
            <a:pPr>
              <a:defRPr sz="975" b="0">
                <a:solidFill>
                  <a:srgbClr val="55554E"/>
                </a:solidFill>
                <a:latin typeface="微软雅黑" panose="020B0503020204020204" charset="-122"/>
                <a:ea typeface="微软雅黑" panose="020B0503020204020204" charset="-122"/>
                <a:cs typeface="微软雅黑" panose="020B0503020204020204" charset="-122"/>
              </a:defRPr>
            </a:pPr>
            <a:r>
              <a:rPr sz="975" b="0">
                <a:solidFill>
                  <a:srgbClr val="55554E"/>
                </a:solidFill>
                <a:latin typeface="微软雅黑" panose="020B0503020204020204" charset="-122"/>
                <a:ea typeface="微软雅黑" panose="020B0503020204020204" charset="-122"/>
                <a:cs typeface="微软雅黑" panose="020B0503020204020204" charset="-122"/>
              </a:rPr>
              <a:t>参考资料</a:t>
            </a:r>
            <a:endParaRPr sz="975"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10763250" y="6477000"/>
            <a:ext cx="809625"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21 / 21</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647700" y="6000750"/>
            <a:ext cx="10668000" cy="209550"/>
          </a:xfrm>
          <a:prstGeom prst="rect">
            <a:avLst/>
          </a:prstGeom>
          <a:noFill/>
          <a:ln w="0">
            <a:noFill/>
          </a:ln>
        </p:spPr>
        <p:txBody>
          <a:bodyPr lIns="0" tIns="0" rIns="0" bIns="0">
            <a:noAutofit/>
          </a:bodyPr>
          <a:lstStyle/>
          <a:p>
            <a:pPr>
              <a:defRPr sz="1050" b="0">
                <a:solidFill>
                  <a:srgbClr val="55554E"/>
                </a:solidFill>
                <a:latin typeface="微软雅黑" panose="020B0503020204020204" charset="-122"/>
                <a:ea typeface="微软雅黑" panose="020B0503020204020204" charset="-122"/>
                <a:cs typeface="微软雅黑" panose="020B0503020204020204" charset="-122"/>
              </a:defRPr>
            </a:pPr>
            <a:r>
              <a:rPr sz="1050" b="0">
                <a:solidFill>
                  <a:srgbClr val="55554E"/>
                </a:solidFill>
                <a:latin typeface="微软雅黑" panose="020B0503020204020204" charset="-122"/>
                <a:ea typeface="微软雅黑" panose="020B0503020204020204" charset="-122"/>
                <a:cs typeface="微软雅黑" panose="020B0503020204020204" charset="-122"/>
              </a:rPr>
              <a:t>论文 arXiv:2402.08567v2；模板：SlidesMania Simple Professional</a:t>
            </a:r>
            <a:endParaRPr sz="1050" b="0">
              <a:solidFill>
                <a:srgbClr val="55554E"/>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838200" y="1571625"/>
            <a:ext cx="10572750" cy="6286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Gu et al. Agent Smith. ICML 2024</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38200" y="2314575"/>
            <a:ext cx="10572750" cy="6286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论文版本：arXiv v2，2024年6月3日</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38200" y="3057525"/>
            <a:ext cx="10572750" cy="6286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原文：https://arxiv.org/html/2402.08567v2</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38200" y="3800475"/>
            <a:ext cx="10572750" cy="6286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代码：https://github.com/sail-sg/Agent-Smith</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38200" y="4543425"/>
            <a:ext cx="10572750" cy="628650"/>
          </a:xfrm>
          <a:prstGeom prst="rect">
            <a:avLst/>
          </a:prstGeom>
          <a:noFill/>
          <a:ln w="0">
            <a:noFill/>
          </a:ln>
        </p:spPr>
        <p:txBody>
          <a:bodyPr lIns="0" tIns="0" rIns="0" bIns="0">
            <a:noAutofit/>
          </a:bodyPr>
          <a:lstStyle/>
          <a:p>
            <a:pPr>
              <a:defRPr sz="1875" b="0">
                <a:solidFill>
                  <a:srgbClr val="171715"/>
                </a:solidFill>
                <a:latin typeface="微软雅黑" panose="020B0503020204020204" charset="-122"/>
                <a:ea typeface="微软雅黑" panose="020B0503020204020204" charset="-122"/>
                <a:cs typeface="微软雅黑" panose="020B0503020204020204" charset="-122"/>
              </a:defRPr>
            </a:pPr>
            <a:r>
              <a:rPr sz="1875" b="0">
                <a:solidFill>
                  <a:srgbClr val="171715"/>
                </a:solidFill>
                <a:latin typeface="微软雅黑" panose="020B0503020204020204" charset="-122"/>
                <a:ea typeface="微软雅黑" panose="020B0503020204020204" charset="-122"/>
                <a:cs typeface="微软雅黑" panose="020B0503020204020204" charset="-122"/>
              </a:rPr>
              <a:t>风格参考：Simple Professional，SlidesMania</a:t>
            </a:r>
            <a:endParaRPr sz="1875" b="0">
              <a:solidFill>
                <a:srgbClr val="17171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3280</Words>
  <Application>WPS 演示</Application>
  <PresentationFormat>Converted Presentation</PresentationFormat>
  <Paragraphs>452</Paragraphs>
  <Slides>21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宋体</vt:lpstr>
      <vt:lpstr>Wingdings</vt:lpstr>
      <vt:lpstr>微软雅黑</vt:lpstr>
      <vt:lpstr>Cambria</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丙午</cp:lastModifiedBy>
  <cp:revision>3</cp:revision>
  <dcterms:created xsi:type="dcterms:W3CDTF">2026-10-15T08:09:27Z</dcterms:created>
  <dcterms:modified xsi:type="dcterms:W3CDTF">2026-10-15T10:33:25Z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2052-12.1.0.28488</vt:lpwstr>
  </property>
  <property fmtid="{D5CDD505-2E9C-101B-9397-08002B2CF9AE}" pid="3" name="ICV">
    <vt:lpwstr>42DFC5C96FC8428793B86288C2E8C524_12</vt:lpwstr>
  </property>
</Properties>
</file>